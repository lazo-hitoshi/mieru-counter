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1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1" name="Shape"/>
          <p:cNvSpPr/>
          <p:nvPr/>
        </p:nvSpPr>
        <p:spPr>
          <a:xfrm>
            <a:off x="0" y="0"/>
            <a:ext cx="12191695" cy="2057400"/>
          </a:xfrm>
          <a:prstGeom prst="rect">
            <a:avLst/>
          </a:prstGeom>
          <a:solidFill>
            <a:srgbClr val="18202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2" name="Shape"/>
          <p:cNvSpPr/>
          <p:nvPr/>
        </p:nvSpPr>
        <p:spPr>
          <a:xfrm>
            <a:off x="585216" y="566928"/>
            <a:ext cx="146304" cy="86868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3" name="TextBox"/>
          <p:cNvSpPr txBox="1"/>
          <p:nvPr/>
        </p:nvSpPr>
        <p:spPr>
          <a:xfrm>
            <a:off x="868680" y="493776"/>
            <a:ext cx="896112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聴覚バリアフリー窓口OS</a:t>
            </a:r>
            <a:endParaRPr lang="ja-JP" sz="3000"/>
          </a:p>
        </p:txBody>
      </p:sp>
      <p:sp>
        <p:nvSpPr>
          <p:cNvPr id="104" name="TextBox"/>
          <p:cNvSpPr txBox="1"/>
          <p:nvPr/>
        </p:nvSpPr>
        <p:spPr>
          <a:xfrm>
            <a:off x="886968" y="1179576"/>
            <a:ext cx="89611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600">
                <a:solidFill>
                  <a:srgbClr val="CFE8E4"/>
                </a:solidFill>
                <a:latin typeface="Yu Gothic"/>
                <a:ea typeface="Yu Gothic"/>
                <a:cs typeface="Yu Gothic"/>
              </a:rPr>
              <a:t>聞こえない人にも、大事な情報が残る社会へ</a:t>
            </a:r>
            <a:endParaRPr lang="ja-JP" sz="1600"/>
          </a:p>
        </p:txBody>
      </p:sp>
      <p:sp>
        <p:nvSpPr>
          <p:cNvPr id="105" name="Shape"/>
          <p:cNvSpPr/>
          <p:nvPr/>
        </p:nvSpPr>
        <p:spPr>
          <a:xfrm>
            <a:off x="6903720" y="1783080"/>
            <a:ext cx="4160520" cy="2788920"/>
          </a:xfrm>
          <a:prstGeom prst="roundRect">
            <a:avLst/>
          </a:prstGeom>
          <a:solidFill>
            <a:srgbClr val="E9EEF8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6" name="Shape"/>
          <p:cNvSpPr/>
          <p:nvPr/>
        </p:nvSpPr>
        <p:spPr>
          <a:xfrm>
            <a:off x="6720840" y="1417320"/>
            <a:ext cx="420624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0DD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07" name="Shape"/>
          <p:cNvSpPr/>
          <p:nvPr/>
        </p:nvSpPr>
        <p:spPr>
          <a:xfrm>
            <a:off x="7068312" y="1911096"/>
            <a:ext cx="3511296" cy="640080"/>
          </a:xfrm>
          <a:prstGeom prst="roundRect">
            <a:avLst/>
          </a:prstGeom>
          <a:solidFill>
            <a:srgbClr val="18202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08" name="TextBox"/>
          <p:cNvSpPr txBox="1"/>
          <p:nvPr/>
        </p:nvSpPr>
        <p:spPr>
          <a:xfrm>
            <a:off x="7223760" y="2057400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薬は1日3回、食後です</a:t>
            </a:r>
            <a:endParaRPr lang="ja-JP" sz="1300"/>
          </a:p>
        </p:txBody>
      </p:sp>
      <p:sp>
        <p:nvSpPr>
          <p:cNvPr id="109" name="Shape"/>
          <p:cNvSpPr/>
          <p:nvPr/>
        </p:nvSpPr>
        <p:spPr>
          <a:xfrm>
            <a:off x="7223760" y="2743200"/>
            <a:ext cx="3200400" cy="502920"/>
          </a:xfrm>
          <a:prstGeom prst="roundRect">
            <a:avLst/>
          </a:prstGeom>
          <a:solidFill>
            <a:srgbClr val="DDF6F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0" name="TextBox"/>
          <p:cNvSpPr txBox="1"/>
          <p:nvPr/>
        </p:nvSpPr>
        <p:spPr>
          <a:xfrm>
            <a:off x="7360920" y="2862072"/>
            <a:ext cx="2907792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100" b="1">
                <a:solidFill>
                  <a:srgbClr val="2E7D5B"/>
                </a:solidFill>
                <a:latin typeface="Yu Gothic"/>
                <a:ea typeface="Yu Gothic"/>
                <a:cs typeface="Yu Gothic"/>
              </a:rPr>
              <a:t>次回予約 7月15日 10:00</a:t>
            </a:r>
            <a:endParaRPr lang="ja-JP" sz="1100"/>
          </a:p>
        </p:txBody>
      </p:sp>
      <p:sp>
        <p:nvSpPr>
          <p:cNvPr id="111" name="Shape"/>
          <p:cNvSpPr/>
          <p:nvPr/>
        </p:nvSpPr>
        <p:spPr>
          <a:xfrm>
            <a:off x="7360920" y="3474720"/>
            <a:ext cx="1234440" cy="310896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2" name="Shape"/>
          <p:cNvSpPr/>
          <p:nvPr/>
        </p:nvSpPr>
        <p:spPr>
          <a:xfrm>
            <a:off x="9006840" y="3474720"/>
            <a:ext cx="1234440" cy="310896"/>
          </a:xfrm>
          <a:prstGeom prst="roundRect">
            <a:avLst/>
          </a:prstGeom>
          <a:solidFill>
            <a:srgbClr val="FFE8E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3" name="TextBox"/>
          <p:cNvSpPr txBox="1"/>
          <p:nvPr/>
        </p:nvSpPr>
        <p:spPr>
          <a:xfrm>
            <a:off x="7434072" y="352958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850" b="1">
                <a:solidFill>
                  <a:srgbClr val="357DED"/>
                </a:solidFill>
                <a:latin typeface="Yu Gothic"/>
                <a:ea typeface="Yu Gothic"/>
                <a:cs typeface="Yu Gothic"/>
              </a:rPr>
              <a:t>理解しました</a:t>
            </a:r>
            <a:endParaRPr lang="ja-JP" sz="850"/>
          </a:p>
        </p:txBody>
      </p:sp>
      <p:sp>
        <p:nvSpPr>
          <p:cNvPr id="114" name="TextBox"/>
          <p:cNvSpPr txBox="1"/>
          <p:nvPr/>
        </p:nvSpPr>
        <p:spPr>
          <a:xfrm>
            <a:off x="9098280" y="3529584"/>
            <a:ext cx="1051560" cy="1463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850" b="1">
                <a:solidFill>
                  <a:srgbClr val="F06449"/>
                </a:solidFill>
                <a:latin typeface="Yu Gothic"/>
                <a:ea typeface="Yu Gothic"/>
                <a:cs typeface="Yu Gothic"/>
              </a:rPr>
              <a:t>もう一度</a:t>
            </a:r>
            <a:endParaRPr lang="ja-JP" sz="850"/>
          </a:p>
        </p:txBody>
      </p:sp>
      <p:cxnSp>
        <p:nvCxnSpPr>
          <p:cNvPr id="115" name="Line"/>
          <p:cNvCxnSpPr/>
          <p:nvPr/>
        </p:nvCxnSpPr>
        <p:spPr>
          <a:xfrm flipV="1">
            <a:off x="7132320" y="1463040"/>
            <a:ext cx="1280160" cy="182880"/>
          </a:xfrm>
          <a:prstGeom prst="line">
            <a:avLst/>
          </a:prstGeom>
          <a:ln w="25400">
            <a:solidFill>
              <a:srgbClr val="48566A"/>
            </a:solidFill>
          </a:ln>
        </p:spPr>
      </p:cxnSp>
      <p:cxnSp>
        <p:nvCxnSpPr>
          <p:cNvPr id="116" name="Line"/>
          <p:cNvCxnSpPr/>
          <p:nvPr/>
        </p:nvCxnSpPr>
        <p:spPr>
          <a:xfrm flipH="1" flipV="1">
            <a:off x="9235440" y="1463040"/>
            <a:ext cx="1280160" cy="182880"/>
          </a:xfrm>
          <a:prstGeom prst="line">
            <a:avLst/>
          </a:prstGeom>
          <a:ln w="25400">
            <a:solidFill>
              <a:srgbClr val="48566A"/>
            </a:solidFill>
          </a:ln>
        </p:spPr>
      </p:cxnSp>
      <p:sp>
        <p:nvSpPr>
          <p:cNvPr id="117" name="TextBox"/>
          <p:cNvSpPr txBox="1"/>
          <p:nvPr/>
        </p:nvSpPr>
        <p:spPr>
          <a:xfrm>
            <a:off x="822960" y="2788920"/>
            <a:ext cx="5257800" cy="1261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Even G2とスマホを使い、病院・薬局・役所などの窓口会話を「字幕」ではなく「行動できる情報」に変えるサービス。</a:t>
            </a:r>
            <a:endParaRPr lang="ja-JP" sz="1800"/>
          </a:p>
        </p:txBody>
      </p:sp>
      <p:sp>
        <p:nvSpPr>
          <p:cNvPr id="118" name="Shape"/>
          <p:cNvSpPr/>
          <p:nvPr/>
        </p:nvSpPr>
        <p:spPr>
          <a:xfrm>
            <a:off x="822960" y="4434840"/>
            <a:ext cx="1737360" cy="347472"/>
          </a:xfrm>
          <a:prstGeom prst="roundRect">
            <a:avLst/>
          </a:prstGeom>
          <a:solidFill>
            <a:srgbClr val="DDF6F1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9" name="TextBox"/>
          <p:cNvSpPr txBox="1"/>
          <p:nvPr/>
        </p:nvSpPr>
        <p:spPr>
          <a:xfrm>
            <a:off x="822960" y="4498848"/>
            <a:ext cx="17373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86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字幕</a:t>
            </a:r>
            <a:endParaRPr lang="ja-JP" sz="860"/>
          </a:p>
        </p:txBody>
      </p:sp>
      <p:sp>
        <p:nvSpPr>
          <p:cNvPr id="120" name="Shape"/>
          <p:cNvSpPr/>
          <p:nvPr/>
        </p:nvSpPr>
        <p:spPr>
          <a:xfrm>
            <a:off x="2743200" y="4434840"/>
            <a:ext cx="2011680" cy="347472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1" name="TextBox"/>
          <p:cNvSpPr txBox="1"/>
          <p:nvPr/>
        </p:nvSpPr>
        <p:spPr>
          <a:xfrm>
            <a:off x="2743200" y="4498848"/>
            <a:ext cx="201168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860" b="1">
                <a:solidFill>
                  <a:srgbClr val="357DED"/>
                </a:solidFill>
                <a:latin typeface="Yu Gothic"/>
                <a:ea typeface="Yu Gothic"/>
                <a:cs typeface="Yu Gothic"/>
              </a:rPr>
              <a:t>重要事項カード</a:t>
            </a:r>
            <a:endParaRPr lang="ja-JP" sz="860"/>
          </a:p>
        </p:txBody>
      </p:sp>
      <p:sp>
        <p:nvSpPr>
          <p:cNvPr id="122" name="Shape"/>
          <p:cNvSpPr/>
          <p:nvPr/>
        </p:nvSpPr>
        <p:spPr>
          <a:xfrm>
            <a:off x="4937760" y="4434840"/>
            <a:ext cx="2103120" cy="347472"/>
          </a:xfrm>
          <a:prstGeom prst="roundRect">
            <a:avLst/>
          </a:prstGeom>
          <a:solidFill>
            <a:srgbClr val="FFE8E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3" name="TextBox"/>
          <p:cNvSpPr txBox="1"/>
          <p:nvPr/>
        </p:nvSpPr>
        <p:spPr>
          <a:xfrm>
            <a:off x="4937760" y="4498848"/>
            <a:ext cx="210312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860" b="1">
                <a:solidFill>
                  <a:srgbClr val="F06449"/>
                </a:solidFill>
                <a:latin typeface="Yu Gothic"/>
                <a:ea typeface="Yu Gothic"/>
                <a:cs typeface="Yu Gothic"/>
              </a:rPr>
              <a:t>確認ボタン</a:t>
            </a:r>
            <a:endParaRPr lang="ja-JP" sz="860"/>
          </a:p>
        </p:txBody>
      </p:sp>
      <p:sp>
        <p:nvSpPr>
          <p:cNvPr id="124" name="Shape"/>
          <p:cNvSpPr/>
          <p:nvPr/>
        </p:nvSpPr>
        <p:spPr>
          <a:xfrm>
            <a:off x="7223760" y="4434840"/>
            <a:ext cx="2194560" cy="347472"/>
          </a:xfrm>
          <a:prstGeom prst="roundRect">
            <a:avLst/>
          </a:prstGeom>
          <a:solidFill>
            <a:srgbClr val="E7F4E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5" name="TextBox"/>
          <p:cNvSpPr txBox="1"/>
          <p:nvPr/>
        </p:nvSpPr>
        <p:spPr>
          <a:xfrm>
            <a:off x="7223760" y="4498848"/>
            <a:ext cx="21945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860" b="1">
                <a:solidFill>
                  <a:srgbClr val="2E7D5B"/>
                </a:solidFill>
                <a:latin typeface="Yu Gothic"/>
                <a:ea typeface="Yu Gothic"/>
                <a:cs typeface="Yu Gothic"/>
              </a:rPr>
              <a:t>呼び出し連携</a:t>
            </a:r>
            <a:endParaRPr lang="ja-JP" sz="860"/>
          </a:p>
        </p:txBody>
      </p:sp>
      <p:sp>
        <p:nvSpPr>
          <p:cNvPr id="126" name="TextBox"/>
          <p:cNvSpPr txBox="1"/>
          <p:nvPr/>
        </p:nvSpPr>
        <p:spPr>
          <a:xfrm>
            <a:off x="822960" y="5742432"/>
            <a:ext cx="7132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95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Business concept deck | 2026</a:t>
            </a:r>
            <a:endParaRPr lang="ja-JP" sz="9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課題: 字幕だけでは、窓口の不安は残る</a:t>
            </a:r>
            <a:endParaRPr lang="ja-JP" sz="1800"/>
          </a:p>
        </p:txBody>
      </p:sp>
      <p:sp>
        <p:nvSpPr>
          <p:cNvPr id="128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Problem</a:t>
            </a:r>
            <a:endParaRPr lang="ja-JP" sz="900"/>
          </a:p>
        </p:txBody>
      </p:sp>
      <p:cxnSp>
        <p:nvCxnSpPr>
          <p:cNvPr id="129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130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2</a:t>
            </a:r>
            <a:endParaRPr lang="ja-JP" sz="800"/>
          </a:p>
        </p:txBody>
      </p:sp>
      <p:sp>
        <p:nvSpPr>
          <p:cNvPr id="131" name="Shape"/>
          <p:cNvSpPr/>
          <p:nvPr/>
        </p:nvSpPr>
        <p:spPr>
          <a:xfrm>
            <a:off x="685800" y="1234440"/>
            <a:ext cx="34564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32" name="Shape"/>
          <p:cNvSpPr/>
          <p:nvPr/>
        </p:nvSpPr>
        <p:spPr>
          <a:xfrm>
            <a:off x="685800" y="1234440"/>
            <a:ext cx="73152" cy="1600200"/>
          </a:xfrm>
          <a:prstGeom prst="rect">
            <a:avLst/>
          </a:prstGeom>
          <a:solidFill>
            <a:srgbClr val="F06449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33" name="TextBox"/>
          <p:cNvSpPr txBox="1"/>
          <p:nvPr/>
        </p:nvSpPr>
        <p:spPr>
          <a:xfrm>
            <a:off x="850392" y="1344168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利用者側の困りごと</a:t>
            </a:r>
            <a:endParaRPr lang="ja-JP" sz="1400"/>
          </a:p>
        </p:txBody>
      </p:sp>
      <p:sp>
        <p:nvSpPr>
          <p:cNvPr id="134" name="TextBox"/>
          <p:cNvSpPr txBox="1"/>
          <p:nvPr/>
        </p:nvSpPr>
        <p:spPr>
          <a:xfrm>
            <a:off x="850392" y="1737360"/>
            <a:ext cx="3127248" cy="978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薬の飲み方、予約日、金額を聞き逃す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もう一度お願いしづらい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次に何をすればよいかわからない</a:t>
            </a:r>
            <a:endParaRPr lang="ja-JP" sz="1050"/>
          </a:p>
        </p:txBody>
      </p:sp>
      <p:sp>
        <p:nvSpPr>
          <p:cNvPr id="135" name="Shape"/>
          <p:cNvSpPr/>
          <p:nvPr/>
        </p:nvSpPr>
        <p:spPr>
          <a:xfrm>
            <a:off x="4407408" y="1234440"/>
            <a:ext cx="34564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36" name="Shape"/>
          <p:cNvSpPr/>
          <p:nvPr/>
        </p:nvSpPr>
        <p:spPr>
          <a:xfrm>
            <a:off x="4407408" y="1234440"/>
            <a:ext cx="73152" cy="16002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37" name="TextBox"/>
          <p:cNvSpPr txBox="1"/>
          <p:nvPr/>
        </p:nvSpPr>
        <p:spPr>
          <a:xfrm>
            <a:off x="4572000" y="1344168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スタッフ側の困りごと</a:t>
            </a:r>
            <a:endParaRPr lang="ja-JP" sz="1400"/>
          </a:p>
        </p:txBody>
      </p:sp>
      <p:sp>
        <p:nvSpPr>
          <p:cNvPr id="138" name="TextBox"/>
          <p:cNvSpPr txBox="1"/>
          <p:nvPr/>
        </p:nvSpPr>
        <p:spPr>
          <a:xfrm>
            <a:off x="4572000" y="1737360"/>
            <a:ext cx="3127248" cy="978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対応方法が属人的になる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筆談に時間がかかる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説明が伝わったか確認しにくい</a:t>
            </a:r>
            <a:endParaRPr lang="ja-JP" sz="1050"/>
          </a:p>
        </p:txBody>
      </p:sp>
      <p:sp>
        <p:nvSpPr>
          <p:cNvPr id="139" name="Shape"/>
          <p:cNvSpPr/>
          <p:nvPr/>
        </p:nvSpPr>
        <p:spPr>
          <a:xfrm>
            <a:off x="8129016" y="1234440"/>
            <a:ext cx="3456432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40" name="Shape"/>
          <p:cNvSpPr/>
          <p:nvPr/>
        </p:nvSpPr>
        <p:spPr>
          <a:xfrm>
            <a:off x="8129016" y="1234440"/>
            <a:ext cx="73152" cy="1600200"/>
          </a:xfrm>
          <a:prstGeom prst="rect">
            <a:avLst/>
          </a:prstGeom>
          <a:solidFill>
            <a:srgbClr val="357DE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41" name="TextBox"/>
          <p:cNvSpPr txBox="1"/>
          <p:nvPr/>
        </p:nvSpPr>
        <p:spPr>
          <a:xfrm>
            <a:off x="8293608" y="1344168"/>
            <a:ext cx="3127248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施設側の困りごと</a:t>
            </a:r>
            <a:endParaRPr lang="ja-JP" sz="1400"/>
          </a:p>
        </p:txBody>
      </p:sp>
      <p:sp>
        <p:nvSpPr>
          <p:cNvPr id="142" name="TextBox"/>
          <p:cNvSpPr txBox="1"/>
          <p:nvPr/>
        </p:nvSpPr>
        <p:spPr>
          <a:xfrm>
            <a:off x="8293608" y="1737360"/>
            <a:ext cx="3127248" cy="9784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合理的配慮の実施を仕組みにできない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呼び出しや案内放送が届かない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現場改善のデータが残らない</a:t>
            </a:r>
            <a:endParaRPr lang="ja-JP" sz="1050"/>
          </a:p>
        </p:txBody>
      </p:sp>
      <p:sp>
        <p:nvSpPr>
          <p:cNvPr id="143" name="Shape"/>
          <p:cNvSpPr/>
          <p:nvPr/>
        </p:nvSpPr>
        <p:spPr>
          <a:xfrm>
            <a:off x="685800" y="3429000"/>
            <a:ext cx="10899648" cy="1325880"/>
          </a:xfrm>
          <a:prstGeom prst="roundRect">
            <a:avLst/>
          </a:prstGeom>
          <a:solidFill>
            <a:srgbClr val="18202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44" name="TextBox"/>
          <p:cNvSpPr txBox="1"/>
          <p:nvPr/>
        </p:nvSpPr>
        <p:spPr>
          <a:xfrm>
            <a:off x="960120" y="3703320"/>
            <a:ext cx="1028700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本当に必要なのは、会話を文字にする機能だけではない。</a:t>
            </a:r>
            <a:endParaRPr lang="ja-JP" sz="2000"/>
          </a:p>
        </p:txBody>
      </p:sp>
      <p:sp>
        <p:nvSpPr>
          <p:cNvPr id="145" name="TextBox"/>
          <p:cNvSpPr txBox="1"/>
          <p:nvPr/>
        </p:nvSpPr>
        <p:spPr>
          <a:xfrm>
            <a:off x="960120" y="4187952"/>
            <a:ext cx="102870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300">
                <a:solidFill>
                  <a:srgbClr val="DDEBFF"/>
                </a:solidFill>
                <a:latin typeface="Yu Gothic"/>
                <a:ea typeface="Yu Gothic"/>
                <a:cs typeface="Yu Gothic"/>
              </a:rPr>
              <a:t>「大事な情報を理解し、確認し、あとで見返せる」窓口体験が必要。</a:t>
            </a:r>
            <a:endParaRPr lang="ja-JP" sz="1300"/>
          </a:p>
        </p:txBody>
      </p:sp>
      <p:sp>
        <p:nvSpPr>
          <p:cNvPr id="146" name="TextBox"/>
          <p:cNvSpPr txBox="1"/>
          <p:nvPr/>
        </p:nvSpPr>
        <p:spPr>
          <a:xfrm>
            <a:off x="1005840" y="5321808"/>
            <a:ext cx="987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対象: 聴覚障害者、難聴者、高齢者、外国人、騒がしい場所で聞き取りにくい人</a:t>
            </a:r>
            <a:endParaRPr lang="ja-JP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市場背景: 導入理由が作りやすいタイミング</a:t>
            </a:r>
            <a:endParaRPr lang="ja-JP" sz="1800"/>
          </a:p>
        </p:txBody>
      </p:sp>
      <p:sp>
        <p:nvSpPr>
          <p:cNvPr id="148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Market</a:t>
            </a:r>
            <a:endParaRPr lang="ja-JP" sz="900"/>
          </a:p>
        </p:txBody>
      </p:sp>
      <p:cxnSp>
        <p:nvCxnSpPr>
          <p:cNvPr id="149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150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3</a:t>
            </a:r>
            <a:endParaRPr lang="ja-JP" sz="800"/>
          </a:p>
        </p:txBody>
      </p:sp>
      <p:sp>
        <p:nvSpPr>
          <p:cNvPr id="151" name="Shape"/>
          <p:cNvSpPr/>
          <p:nvPr/>
        </p:nvSpPr>
        <p:spPr>
          <a:xfrm>
            <a:off x="713232" y="1170432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52" name="Shape"/>
          <p:cNvSpPr/>
          <p:nvPr/>
        </p:nvSpPr>
        <p:spPr>
          <a:xfrm>
            <a:off x="713232" y="1170432"/>
            <a:ext cx="73152" cy="192024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53" name="TextBox"/>
          <p:cNvSpPr txBox="1"/>
          <p:nvPr/>
        </p:nvSpPr>
        <p:spPr>
          <a:xfrm>
            <a:off x="877824" y="1280160"/>
            <a:ext cx="300837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1. 高齢化と難聴</a:t>
            </a:r>
            <a:endParaRPr lang="ja-JP" sz="1400"/>
          </a:p>
        </p:txBody>
      </p:sp>
      <p:sp>
        <p:nvSpPr>
          <p:cNvPr id="154" name="TextBox"/>
          <p:cNvSpPr txBox="1"/>
          <p:nvPr/>
        </p:nvSpPr>
        <p:spPr>
          <a:xfrm>
            <a:off x="877824" y="1673352"/>
            <a:ext cx="3008376" cy="1298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高齢者ほど聞こえの課題が増える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医療・薬局・自治体窓口で特に不安が大きい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本人だけでなく家族の安心にもつながる</a:t>
            </a:r>
            <a:endParaRPr lang="ja-JP" sz="1050"/>
          </a:p>
        </p:txBody>
      </p:sp>
      <p:sp>
        <p:nvSpPr>
          <p:cNvPr id="155" name="Shape"/>
          <p:cNvSpPr/>
          <p:nvPr/>
        </p:nvSpPr>
        <p:spPr>
          <a:xfrm>
            <a:off x="4434840" y="1170432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56" name="Shape"/>
          <p:cNvSpPr/>
          <p:nvPr/>
        </p:nvSpPr>
        <p:spPr>
          <a:xfrm>
            <a:off x="4434840" y="1170432"/>
            <a:ext cx="73152" cy="1920240"/>
          </a:xfrm>
          <a:prstGeom prst="rect">
            <a:avLst/>
          </a:prstGeom>
          <a:solidFill>
            <a:srgbClr val="357DE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57" name="TextBox"/>
          <p:cNvSpPr txBox="1"/>
          <p:nvPr/>
        </p:nvSpPr>
        <p:spPr>
          <a:xfrm>
            <a:off x="4599432" y="1280160"/>
            <a:ext cx="300837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2. 合理的配慮</a:t>
            </a:r>
            <a:endParaRPr lang="ja-JP" sz="1400"/>
          </a:p>
        </p:txBody>
      </p:sp>
      <p:sp>
        <p:nvSpPr>
          <p:cNvPr id="158" name="TextBox"/>
          <p:cNvSpPr txBox="1"/>
          <p:nvPr/>
        </p:nvSpPr>
        <p:spPr>
          <a:xfrm>
            <a:off x="4599432" y="1673352"/>
            <a:ext cx="3008376" cy="1298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日本では事業者にも合理的配慮が求められる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対応を個人任せにせず、仕組み化したい需要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導入記録や改善レポートが営業材料になる</a:t>
            </a:r>
            <a:endParaRPr lang="ja-JP" sz="1050"/>
          </a:p>
        </p:txBody>
      </p:sp>
      <p:sp>
        <p:nvSpPr>
          <p:cNvPr id="159" name="Shape"/>
          <p:cNvSpPr/>
          <p:nvPr/>
        </p:nvSpPr>
        <p:spPr>
          <a:xfrm>
            <a:off x="8156448" y="1170432"/>
            <a:ext cx="3337560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60" name="Shape"/>
          <p:cNvSpPr/>
          <p:nvPr/>
        </p:nvSpPr>
        <p:spPr>
          <a:xfrm>
            <a:off x="8156448" y="1170432"/>
            <a:ext cx="73152" cy="192024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61" name="TextBox"/>
          <p:cNvSpPr txBox="1"/>
          <p:nvPr/>
        </p:nvSpPr>
        <p:spPr>
          <a:xfrm>
            <a:off x="8321040" y="1280160"/>
            <a:ext cx="300837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3. 多言語・接客DX</a:t>
            </a:r>
            <a:endParaRPr lang="ja-JP" sz="1400"/>
          </a:p>
        </p:txBody>
      </p:sp>
      <p:sp>
        <p:nvSpPr>
          <p:cNvPr id="162" name="TextBox"/>
          <p:cNvSpPr txBox="1"/>
          <p:nvPr/>
        </p:nvSpPr>
        <p:spPr>
          <a:xfrm>
            <a:off x="8321040" y="1673352"/>
            <a:ext cx="3008376" cy="12984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外国人対応、やさしい日本語にも展開可能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窓口業務の標準化と教育にも使える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スマートグラス普及の初期市場を狙える</a:t>
            </a:r>
            <a:endParaRPr lang="ja-JP" sz="1050"/>
          </a:p>
        </p:txBody>
      </p:sp>
      <p:sp>
        <p:nvSpPr>
          <p:cNvPr id="163" name="Shape"/>
          <p:cNvSpPr/>
          <p:nvPr/>
        </p:nvSpPr>
        <p:spPr>
          <a:xfrm>
            <a:off x="914400" y="3794760"/>
            <a:ext cx="10287000" cy="1261872"/>
          </a:xfrm>
          <a:prstGeom prst="roundRect">
            <a:avLst/>
          </a:prstGeom>
          <a:solidFill>
            <a:srgbClr val="EAF7F5"/>
          </a:solidFill>
          <a:ln w="12700">
            <a:solidFill>
              <a:srgbClr val="B9E6DE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64" name="TextBox"/>
          <p:cNvSpPr txBox="1"/>
          <p:nvPr/>
        </p:nvSpPr>
        <p:spPr>
          <a:xfrm>
            <a:off x="1234440" y="4096512"/>
            <a:ext cx="9646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700" b="1">
                <a:solidFill>
                  <a:srgbClr val="2E7D5B"/>
                </a:solidFill>
                <a:latin typeface="Yu Gothic"/>
                <a:ea typeface="Yu Gothic"/>
                <a:cs typeface="Yu Gothic"/>
              </a:rPr>
              <a:t>法人が買う理由: 「便利そう」ではなく、窓口対応の品質・記録・説明責任を改善できる。</a:t>
            </a:r>
            <a:endParaRPr lang="ja-JP" sz="1700"/>
          </a:p>
        </p:txBody>
      </p:sp>
      <p:sp>
        <p:nvSpPr>
          <p:cNvPr id="165" name="TextBox"/>
          <p:cNvSpPr txBox="1"/>
          <p:nvPr/>
        </p:nvSpPr>
        <p:spPr>
          <a:xfrm>
            <a:off x="768096" y="5806440"/>
            <a:ext cx="106070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85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出典例: 内閣府 障害者差別解消法、Even Realities、XRAI Glass、AirCaps、Hearview各公式情報</a:t>
            </a:r>
            <a:endParaRPr lang="ja-JP" sz="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既存サービスとの差: 字幕の先が空いている</a:t>
            </a:r>
            <a:endParaRPr lang="ja-JP" sz="1800"/>
          </a:p>
        </p:txBody>
      </p:sp>
      <p:sp>
        <p:nvSpPr>
          <p:cNvPr id="167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Gap</a:t>
            </a:r>
            <a:endParaRPr lang="ja-JP" sz="900"/>
          </a:p>
        </p:txBody>
      </p:sp>
      <p:cxnSp>
        <p:nvCxnSpPr>
          <p:cNvPr id="168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169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4</a:t>
            </a:r>
            <a:endParaRPr lang="ja-JP" sz="800"/>
          </a:p>
        </p:txBody>
      </p:sp>
      <p:sp>
        <p:nvSpPr>
          <p:cNvPr id="170" name="Shape"/>
          <p:cNvSpPr/>
          <p:nvPr/>
        </p:nvSpPr>
        <p:spPr>
          <a:xfrm>
            <a:off x="731520" y="1143000"/>
            <a:ext cx="107442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71" name="TextBox"/>
          <p:cNvSpPr txBox="1"/>
          <p:nvPr/>
        </p:nvSpPr>
        <p:spPr>
          <a:xfrm>
            <a:off x="960120" y="1353312"/>
            <a:ext cx="1920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00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領域</a:t>
            </a:r>
            <a:endParaRPr lang="ja-JP" sz="1200"/>
          </a:p>
        </p:txBody>
      </p:sp>
      <p:sp>
        <p:nvSpPr>
          <p:cNvPr id="172" name="TextBox"/>
          <p:cNvSpPr txBox="1"/>
          <p:nvPr/>
        </p:nvSpPr>
        <p:spPr>
          <a:xfrm>
            <a:off x="3063240" y="135331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00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既存サービスが強いこと</a:t>
            </a:r>
            <a:endParaRPr lang="ja-JP" sz="1200"/>
          </a:p>
        </p:txBody>
      </p:sp>
      <p:sp>
        <p:nvSpPr>
          <p:cNvPr id="173" name="TextBox"/>
          <p:cNvSpPr txBox="1"/>
          <p:nvPr/>
        </p:nvSpPr>
        <p:spPr>
          <a:xfrm>
            <a:off x="6858000" y="1353312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00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未充足の機会</a:t>
            </a:r>
            <a:endParaRPr lang="ja-JP" sz="1200"/>
          </a:p>
        </p:txBody>
      </p:sp>
      <p:cxnSp>
        <p:nvCxnSpPr>
          <p:cNvPr id="174" name="Line"/>
          <p:cNvCxnSpPr/>
          <p:nvPr/>
        </p:nvCxnSpPr>
        <p:spPr>
          <a:xfrm>
            <a:off x="914400" y="1783080"/>
            <a:ext cx="10241280" cy="0"/>
          </a:xfrm>
          <a:prstGeom prst="line">
            <a:avLst/>
          </a:prstGeom>
          <a:ln w="12700">
            <a:solidFill>
              <a:srgbClr val="D8DEE8"/>
            </a:solidFill>
          </a:ln>
        </p:spPr>
      </p:cxnSp>
      <p:sp>
        <p:nvSpPr>
          <p:cNvPr id="175" name="TextBox"/>
          <p:cNvSpPr txBox="1"/>
          <p:nvPr/>
        </p:nvSpPr>
        <p:spPr>
          <a:xfrm>
            <a:off x="960120" y="199339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スマートグラス字幕</a:t>
            </a:r>
            <a:endParaRPr lang="ja-JP" sz="1200"/>
          </a:p>
        </p:txBody>
      </p:sp>
      <p:sp>
        <p:nvSpPr>
          <p:cNvPr id="176" name="TextBox"/>
          <p:cNvSpPr txBox="1"/>
          <p:nvPr/>
        </p:nvSpPr>
        <p:spPr>
          <a:xfrm>
            <a:off x="3090672" y="1993392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リアルタイム字幕、翻訳、話者識別</a:t>
            </a:r>
            <a:endParaRPr lang="ja-JP" sz="1100"/>
          </a:p>
        </p:txBody>
      </p:sp>
      <p:sp>
        <p:nvSpPr>
          <p:cNvPr id="177" name="TextBox"/>
          <p:cNvSpPr txBox="1"/>
          <p:nvPr/>
        </p:nvSpPr>
        <p:spPr>
          <a:xfrm>
            <a:off x="6903720" y="1993392"/>
            <a:ext cx="40416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窓口システム連携、重要事項カード</a:t>
            </a:r>
            <a:endParaRPr lang="ja-JP" sz="1100"/>
          </a:p>
        </p:txBody>
      </p:sp>
      <p:cxnSp>
        <p:nvCxnSpPr>
          <p:cNvPr id="178" name="Line"/>
          <p:cNvCxnSpPr/>
          <p:nvPr/>
        </p:nvCxnSpPr>
        <p:spPr>
          <a:xfrm>
            <a:off x="914400" y="2560320"/>
            <a:ext cx="10241280" cy="0"/>
          </a:xfrm>
          <a:prstGeom prst="line">
            <a:avLst/>
          </a:prstGeom>
          <a:ln w="9525">
            <a:solidFill>
              <a:srgbClr val="EEF2F7"/>
            </a:solidFill>
          </a:ln>
        </p:spPr>
      </p:cxnSp>
      <p:sp>
        <p:nvSpPr>
          <p:cNvPr id="179" name="TextBox"/>
          <p:cNvSpPr txBox="1"/>
          <p:nvPr/>
        </p:nvSpPr>
        <p:spPr>
          <a:xfrm>
            <a:off x="960120" y="2779776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スマホ字幕</a:t>
            </a:r>
            <a:endParaRPr lang="ja-JP" sz="1200"/>
          </a:p>
        </p:txBody>
      </p:sp>
      <p:sp>
        <p:nvSpPr>
          <p:cNvPr id="180" name="TextBox"/>
          <p:cNvSpPr txBox="1"/>
          <p:nvPr/>
        </p:nvSpPr>
        <p:spPr>
          <a:xfrm>
            <a:off x="3090672" y="2779776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スマホ・PCでの文字起こし</a:t>
            </a:r>
            <a:endParaRPr lang="ja-JP" sz="1100"/>
          </a:p>
        </p:txBody>
      </p:sp>
      <p:sp>
        <p:nvSpPr>
          <p:cNvPr id="181" name="TextBox"/>
          <p:cNvSpPr txBox="1"/>
          <p:nvPr/>
        </p:nvSpPr>
        <p:spPr>
          <a:xfrm>
            <a:off x="6903720" y="2779776"/>
            <a:ext cx="40416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目線を落とさない体験、確認UI</a:t>
            </a:r>
            <a:endParaRPr lang="ja-JP" sz="1100"/>
          </a:p>
        </p:txBody>
      </p:sp>
      <p:cxnSp>
        <p:nvCxnSpPr>
          <p:cNvPr id="182" name="Line"/>
          <p:cNvCxnSpPr/>
          <p:nvPr/>
        </p:nvCxnSpPr>
        <p:spPr>
          <a:xfrm>
            <a:off x="914400" y="3346704"/>
            <a:ext cx="10241280" cy="0"/>
          </a:xfrm>
          <a:prstGeom prst="line">
            <a:avLst/>
          </a:prstGeom>
          <a:ln w="9525">
            <a:solidFill>
              <a:srgbClr val="EEF2F7"/>
            </a:solidFill>
          </a:ln>
        </p:spPr>
      </p:cxnSp>
      <p:sp>
        <p:nvSpPr>
          <p:cNvPr id="183" name="TextBox"/>
          <p:cNvSpPr txBox="1"/>
          <p:nvPr/>
        </p:nvSpPr>
        <p:spPr>
          <a:xfrm>
            <a:off x="960120" y="3566160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会議支援</a:t>
            </a:r>
            <a:endParaRPr lang="ja-JP" sz="1200"/>
          </a:p>
        </p:txBody>
      </p:sp>
      <p:sp>
        <p:nvSpPr>
          <p:cNvPr id="184" name="TextBox"/>
          <p:cNvSpPr txBox="1"/>
          <p:nvPr/>
        </p:nvSpPr>
        <p:spPr>
          <a:xfrm>
            <a:off x="3090672" y="3566160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議事録、要約、参加支援</a:t>
            </a:r>
            <a:endParaRPr lang="ja-JP" sz="1100"/>
          </a:p>
        </p:txBody>
      </p:sp>
      <p:sp>
        <p:nvSpPr>
          <p:cNvPr id="185" name="TextBox"/>
          <p:cNvSpPr txBox="1"/>
          <p:nvPr/>
        </p:nvSpPr>
        <p:spPr>
          <a:xfrm>
            <a:off x="6903720" y="3566160"/>
            <a:ext cx="40416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個人会議より生活手続きに特化</a:t>
            </a:r>
            <a:endParaRPr lang="ja-JP" sz="1100"/>
          </a:p>
        </p:txBody>
      </p:sp>
      <p:cxnSp>
        <p:nvCxnSpPr>
          <p:cNvPr id="186" name="Line"/>
          <p:cNvCxnSpPr/>
          <p:nvPr/>
        </p:nvCxnSpPr>
        <p:spPr>
          <a:xfrm>
            <a:off x="914400" y="4133088"/>
            <a:ext cx="10241280" cy="0"/>
          </a:xfrm>
          <a:prstGeom prst="line">
            <a:avLst/>
          </a:prstGeom>
          <a:ln w="9525">
            <a:solidFill>
              <a:srgbClr val="EEF2F7"/>
            </a:solidFill>
          </a:ln>
        </p:spPr>
      </p:cxnSp>
      <p:sp>
        <p:nvSpPr>
          <p:cNvPr id="187" name="TextBox"/>
          <p:cNvSpPr txBox="1"/>
          <p:nvPr/>
        </p:nvSpPr>
        <p:spPr>
          <a:xfrm>
            <a:off x="960120" y="4352544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窓口現場</a:t>
            </a:r>
            <a:endParaRPr lang="ja-JP" sz="1200"/>
          </a:p>
        </p:txBody>
      </p:sp>
      <p:sp>
        <p:nvSpPr>
          <p:cNvPr id="188" name="TextBox"/>
          <p:cNvSpPr txBox="1"/>
          <p:nvPr/>
        </p:nvSpPr>
        <p:spPr>
          <a:xfrm>
            <a:off x="3090672" y="4352544"/>
            <a:ext cx="35661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一部は筆談・手話・個別対応</a:t>
            </a:r>
            <a:endParaRPr lang="ja-JP" sz="1100"/>
          </a:p>
        </p:txBody>
      </p:sp>
      <p:sp>
        <p:nvSpPr>
          <p:cNvPr id="189" name="TextBox"/>
          <p:cNvSpPr txBox="1"/>
          <p:nvPr/>
        </p:nvSpPr>
        <p:spPr>
          <a:xfrm>
            <a:off x="6903720" y="4352544"/>
            <a:ext cx="40416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1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記録、標準化、呼び出し通知、改善レポート</a:t>
            </a:r>
            <a:endParaRPr lang="ja-JP" sz="1100"/>
          </a:p>
        </p:txBody>
      </p:sp>
      <p:cxnSp>
        <p:nvCxnSpPr>
          <p:cNvPr id="190" name="Line"/>
          <p:cNvCxnSpPr/>
          <p:nvPr/>
        </p:nvCxnSpPr>
        <p:spPr>
          <a:xfrm>
            <a:off x="914400" y="4919472"/>
            <a:ext cx="10241280" cy="0"/>
          </a:xfrm>
          <a:prstGeom prst="line">
            <a:avLst/>
          </a:prstGeom>
          <a:ln w="9525">
            <a:solidFill>
              <a:srgbClr val="EEF2F7"/>
            </a:solidFill>
          </a:ln>
        </p:spPr>
      </p:cxnSp>
      <p:sp>
        <p:nvSpPr>
          <p:cNvPr id="191" name="TextBox"/>
          <p:cNvSpPr txBox="1"/>
          <p:nvPr/>
        </p:nvSpPr>
        <p:spPr>
          <a:xfrm>
            <a:off x="960120" y="5321808"/>
            <a:ext cx="10195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F06449"/>
                </a:solidFill>
                <a:latin typeface="Yu Gothic"/>
                <a:ea typeface="Yu Gothic"/>
                <a:cs typeface="Yu Gothic"/>
              </a:rPr>
              <a:t>勝ち筋: 「字幕性能」単体ではなく、窓口業務に入り込むプロダクトにする。</a:t>
            </a:r>
            <a:endParaRPr lang="ja-JP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解決策: Mieru Counter</a:t>
            </a:r>
            <a:endParaRPr lang="ja-JP" sz="1800"/>
          </a:p>
        </p:txBody>
      </p:sp>
      <p:sp>
        <p:nvSpPr>
          <p:cNvPr id="193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Product</a:t>
            </a:r>
            <a:endParaRPr lang="ja-JP" sz="900"/>
          </a:p>
        </p:txBody>
      </p:sp>
      <p:cxnSp>
        <p:nvCxnSpPr>
          <p:cNvPr id="194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195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5</a:t>
            </a:r>
            <a:endParaRPr lang="ja-JP" sz="800"/>
          </a:p>
        </p:txBody>
      </p:sp>
      <p:sp>
        <p:nvSpPr>
          <p:cNvPr id="196" name="TextBox"/>
          <p:cNvSpPr txBox="1"/>
          <p:nvPr/>
        </p:nvSpPr>
        <p:spPr>
          <a:xfrm>
            <a:off x="749808" y="1078992"/>
            <a:ext cx="1060704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22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利用者・スタッフ・施設システムをつなぐ、聴覚バリアフリー窓口OS</a:t>
            </a:r>
            <a:endParaRPr lang="ja-JP" sz="2200"/>
          </a:p>
        </p:txBody>
      </p:sp>
      <p:sp>
        <p:nvSpPr>
          <p:cNvPr id="197" name="Shape"/>
          <p:cNvSpPr/>
          <p:nvPr/>
        </p:nvSpPr>
        <p:spPr>
          <a:xfrm>
            <a:off x="822960" y="1828800"/>
            <a:ext cx="2926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98" name="Shape"/>
          <p:cNvSpPr/>
          <p:nvPr/>
        </p:nvSpPr>
        <p:spPr>
          <a:xfrm>
            <a:off x="4636008" y="1828800"/>
            <a:ext cx="2926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199" name="Shape"/>
          <p:cNvSpPr/>
          <p:nvPr/>
        </p:nvSpPr>
        <p:spPr>
          <a:xfrm>
            <a:off x="8449056" y="1828800"/>
            <a:ext cx="2926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00" name="TextBox"/>
          <p:cNvSpPr txBox="1"/>
          <p:nvPr/>
        </p:nvSpPr>
        <p:spPr>
          <a:xfrm>
            <a:off x="1051560" y="20574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6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利用者</a:t>
            </a:r>
            <a:endParaRPr lang="ja-JP" sz="1600"/>
          </a:p>
        </p:txBody>
      </p:sp>
      <p:sp>
        <p:nvSpPr>
          <p:cNvPr id="201" name="TextBox"/>
          <p:cNvSpPr txBox="1"/>
          <p:nvPr/>
        </p:nvSpPr>
        <p:spPr>
          <a:xfrm>
            <a:off x="4864608" y="20574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600" b="1">
                <a:solidFill>
                  <a:srgbClr val="357DED"/>
                </a:solidFill>
                <a:latin typeface="Yu Gothic"/>
                <a:ea typeface="Yu Gothic"/>
                <a:cs typeface="Yu Gothic"/>
              </a:rPr>
              <a:t>スタッフ</a:t>
            </a:r>
            <a:endParaRPr lang="ja-JP" sz="1600"/>
          </a:p>
        </p:txBody>
      </p:sp>
      <p:sp>
        <p:nvSpPr>
          <p:cNvPr id="202" name="TextBox"/>
          <p:cNvSpPr txBox="1"/>
          <p:nvPr/>
        </p:nvSpPr>
        <p:spPr>
          <a:xfrm>
            <a:off x="8677656" y="2057400"/>
            <a:ext cx="24688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600" b="1">
                <a:solidFill>
                  <a:srgbClr val="F06449"/>
                </a:solidFill>
                <a:latin typeface="Yu Gothic"/>
                <a:ea typeface="Yu Gothic"/>
                <a:cs typeface="Yu Gothic"/>
              </a:rPr>
              <a:t>施設</a:t>
            </a:r>
            <a:endParaRPr lang="ja-JP" sz="1600"/>
          </a:p>
        </p:txBody>
      </p:sp>
      <p:sp>
        <p:nvSpPr>
          <p:cNvPr id="203" name="TextBox"/>
          <p:cNvSpPr txBox="1"/>
          <p:nvPr/>
        </p:nvSpPr>
        <p:spPr>
          <a:xfrm>
            <a:off x="1078992" y="2651760"/>
            <a:ext cx="241401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3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Even G2 / スマホ</a:t>
            </a:r>
            <a:endParaRPr lang="ja-JP" sz="1300"/>
          </a:p>
          <a:p>
            <a:pPr marL="0" indent="0" algn="l">
              <a:buNone/>
            </a:pPr>
            <a:r>
              <a:rPr lang="ja-JP" sz="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字幕、重要事項、確認ボタン、会話メモ</a:t>
            </a:r>
            <a:endParaRPr lang="ja-JP" sz="100"/>
          </a:p>
        </p:txBody>
      </p:sp>
      <p:sp>
        <p:nvSpPr>
          <p:cNvPr id="204" name="TextBox"/>
          <p:cNvSpPr txBox="1"/>
          <p:nvPr/>
        </p:nvSpPr>
        <p:spPr>
          <a:xfrm>
            <a:off x="4892040" y="2651760"/>
            <a:ext cx="241401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3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タブレット / PC</a:t>
            </a:r>
            <a:endParaRPr lang="ja-JP" sz="1300"/>
          </a:p>
          <a:p>
            <a:pPr marL="0" indent="0" algn="l">
              <a:buNone/>
            </a:pPr>
            <a:r>
              <a:rPr lang="ja-JP" sz="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説明テンプレート、理解確認、再説明依頼</a:t>
            </a:r>
            <a:endParaRPr lang="ja-JP" sz="100"/>
          </a:p>
        </p:txBody>
      </p:sp>
      <p:sp>
        <p:nvSpPr>
          <p:cNvPr id="205" name="TextBox"/>
          <p:cNvSpPr txBox="1"/>
          <p:nvPr/>
        </p:nvSpPr>
        <p:spPr>
          <a:xfrm>
            <a:off x="8705088" y="2651760"/>
            <a:ext cx="2414016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3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予約・番号・館内案内</a:t>
            </a:r>
            <a:endParaRPr lang="ja-JP" sz="1300"/>
          </a:p>
          <a:p>
            <a:pPr marL="0" indent="0" algn="l">
              <a:buNone/>
            </a:pPr>
            <a:r>
              <a:rPr lang="ja-JP" sz="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呼び出し通知、対応記録、改善レポート</a:t>
            </a:r>
            <a:endParaRPr lang="ja-JP" sz="100"/>
          </a:p>
        </p:txBody>
      </p:sp>
      <p:cxnSp>
        <p:nvCxnSpPr>
          <p:cNvPr id="206" name="Line"/>
          <p:cNvCxnSpPr/>
          <p:nvPr/>
        </p:nvCxnSpPr>
        <p:spPr>
          <a:xfrm>
            <a:off x="3749040" y="3035808"/>
            <a:ext cx="877824" cy="0"/>
          </a:xfrm>
          <a:prstGeom prst="line">
            <a:avLst/>
          </a:prstGeom>
          <a:ln w="25400">
            <a:solidFill>
              <a:srgbClr val="1B998B"/>
            </a:solidFill>
            <a:tailEnd type="triangle"/>
          </a:ln>
        </p:spPr>
      </p:cxnSp>
      <p:cxnSp>
        <p:nvCxnSpPr>
          <p:cNvPr id="207" name="Line"/>
          <p:cNvCxnSpPr/>
          <p:nvPr/>
        </p:nvCxnSpPr>
        <p:spPr>
          <a:xfrm>
            <a:off x="7562088" y="3035808"/>
            <a:ext cx="877824" cy="0"/>
          </a:xfrm>
          <a:prstGeom prst="line">
            <a:avLst/>
          </a:prstGeom>
          <a:ln w="25400">
            <a:solidFill>
              <a:srgbClr val="357DED"/>
            </a:solidFill>
            <a:tailEnd type="triangle"/>
          </a:ln>
        </p:spPr>
      </p:cxnSp>
      <p:sp>
        <p:nvSpPr>
          <p:cNvPr id="208" name="Shape"/>
          <p:cNvSpPr/>
          <p:nvPr/>
        </p:nvSpPr>
        <p:spPr>
          <a:xfrm>
            <a:off x="1005840" y="4892040"/>
            <a:ext cx="10104120" cy="658368"/>
          </a:xfrm>
          <a:prstGeom prst="roundRect">
            <a:avLst/>
          </a:prstGeom>
          <a:solidFill>
            <a:srgbClr val="18202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09" name="TextBox"/>
          <p:cNvSpPr txBox="1"/>
          <p:nvPr/>
        </p:nvSpPr>
        <p:spPr>
          <a:xfrm>
            <a:off x="1234440" y="5074920"/>
            <a:ext cx="964692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5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窓口の会話を、字幕・理解確認・記録・案内通知まで一気通貫で支える。</a:t>
            </a:r>
            <a:endParaRPr lang="ja-JP" sz="14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利用シーン: 病院・薬局で価値が出る</a:t>
            </a:r>
            <a:endParaRPr lang="ja-JP" sz="1800"/>
          </a:p>
        </p:txBody>
      </p:sp>
      <p:sp>
        <p:nvSpPr>
          <p:cNvPr id="211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Use Case</a:t>
            </a:r>
            <a:endParaRPr lang="ja-JP" sz="900"/>
          </a:p>
        </p:txBody>
      </p:sp>
      <p:cxnSp>
        <p:nvCxnSpPr>
          <p:cNvPr id="212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213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6</a:t>
            </a:r>
            <a:endParaRPr lang="ja-JP" sz="800"/>
          </a:p>
        </p:txBody>
      </p:sp>
      <p:sp>
        <p:nvSpPr>
          <p:cNvPr id="214" name="Shape"/>
          <p:cNvSpPr/>
          <p:nvPr/>
        </p:nvSpPr>
        <p:spPr>
          <a:xfrm>
            <a:off x="685800" y="1133856"/>
            <a:ext cx="31546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5" name="Shape"/>
          <p:cNvSpPr/>
          <p:nvPr/>
        </p:nvSpPr>
        <p:spPr>
          <a:xfrm>
            <a:off x="4526280" y="1133856"/>
            <a:ext cx="31546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6" name="Shape"/>
          <p:cNvSpPr/>
          <p:nvPr/>
        </p:nvSpPr>
        <p:spPr>
          <a:xfrm>
            <a:off x="8366760" y="1133856"/>
            <a:ext cx="315468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17" name="TextBox"/>
          <p:cNvSpPr txBox="1"/>
          <p:nvPr/>
        </p:nvSpPr>
        <p:spPr>
          <a:xfrm>
            <a:off x="960120" y="141732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7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受付</a:t>
            </a:r>
            <a:endParaRPr lang="ja-JP" sz="1700"/>
          </a:p>
        </p:txBody>
      </p:sp>
      <p:sp>
        <p:nvSpPr>
          <p:cNvPr id="218" name="TextBox"/>
          <p:cNvSpPr txBox="1"/>
          <p:nvPr/>
        </p:nvSpPr>
        <p:spPr>
          <a:xfrm>
            <a:off x="4800600" y="141732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700" b="1">
                <a:solidFill>
                  <a:srgbClr val="357DED"/>
                </a:solidFill>
                <a:latin typeface="Yu Gothic"/>
                <a:ea typeface="Yu Gothic"/>
                <a:cs typeface="Yu Gothic"/>
              </a:rPr>
              <a:t>診察・服薬説明</a:t>
            </a:r>
            <a:endParaRPr lang="ja-JP" sz="1700"/>
          </a:p>
        </p:txBody>
      </p:sp>
      <p:sp>
        <p:nvSpPr>
          <p:cNvPr id="219" name="TextBox"/>
          <p:cNvSpPr txBox="1"/>
          <p:nvPr/>
        </p:nvSpPr>
        <p:spPr>
          <a:xfrm>
            <a:off x="8641080" y="1417320"/>
            <a:ext cx="2606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700" b="1">
                <a:solidFill>
                  <a:srgbClr val="F06449"/>
                </a:solidFill>
                <a:latin typeface="Yu Gothic"/>
                <a:ea typeface="Yu Gothic"/>
                <a:cs typeface="Yu Gothic"/>
              </a:rPr>
              <a:t>帰宅後</a:t>
            </a:r>
            <a:endParaRPr lang="ja-JP" sz="1700"/>
          </a:p>
        </p:txBody>
      </p:sp>
      <p:sp>
        <p:nvSpPr>
          <p:cNvPr id="220" name="TextBox"/>
          <p:cNvSpPr txBox="1"/>
          <p:nvPr/>
        </p:nvSpPr>
        <p:spPr>
          <a:xfrm>
            <a:off x="914400" y="2057400"/>
            <a:ext cx="269748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5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1. QRで窓口に接続</a:t>
            </a:r>
            <a:endParaRPr lang="ja-JP" sz="1250"/>
          </a:p>
          <a:p>
            <a:pPr marL="0" indent="0" algn="l">
              <a:buNone/>
            </a:pPr>
            <a:r>
              <a:rPr lang="ja-JP" sz="125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2. 呼び出し番号をG2に通知</a:t>
            </a:r>
            <a:endParaRPr lang="ja-JP" sz="1250"/>
          </a:p>
          <a:p>
            <a:pPr marL="0" indent="0" algn="l">
              <a:buNone/>
            </a:pPr>
            <a:r>
              <a:rPr lang="ja-JP" sz="125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3. 受付内容をやさしい日本語で表示</a:t>
            </a:r>
            <a:endParaRPr lang="ja-JP" sz="1250"/>
          </a:p>
        </p:txBody>
      </p:sp>
      <p:sp>
        <p:nvSpPr>
          <p:cNvPr id="221" name="TextBox"/>
          <p:cNvSpPr txBox="1"/>
          <p:nvPr/>
        </p:nvSpPr>
        <p:spPr>
          <a:xfrm>
            <a:off x="4754880" y="2057400"/>
            <a:ext cx="269748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5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1. 会話を短い字幕で表示</a:t>
            </a:r>
            <a:endParaRPr lang="ja-JP" sz="1250"/>
          </a:p>
          <a:p>
            <a:pPr marL="0" indent="0" algn="l">
              <a:buNone/>
            </a:pPr>
            <a:r>
              <a:rPr lang="ja-JP" sz="125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2. 薬・予約・注意事項をカード化</a:t>
            </a:r>
            <a:endParaRPr lang="ja-JP" sz="1250"/>
          </a:p>
          <a:p>
            <a:pPr marL="0" indent="0" algn="l">
              <a:buNone/>
            </a:pPr>
            <a:r>
              <a:rPr lang="ja-JP" sz="125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3. 理解確認をスタッフ側へ返す</a:t>
            </a:r>
            <a:endParaRPr lang="ja-JP" sz="1250"/>
          </a:p>
        </p:txBody>
      </p:sp>
      <p:sp>
        <p:nvSpPr>
          <p:cNvPr id="222" name="TextBox"/>
          <p:cNvSpPr txBox="1"/>
          <p:nvPr/>
        </p:nvSpPr>
        <p:spPr>
          <a:xfrm>
            <a:off x="8595360" y="2057400"/>
            <a:ext cx="2697480" cy="2468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5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1. 会話メモをスマホで確認</a:t>
            </a:r>
            <a:endParaRPr lang="ja-JP" sz="1250"/>
          </a:p>
          <a:p>
            <a:pPr marL="0" indent="0" algn="l">
              <a:buNone/>
            </a:pPr>
            <a:r>
              <a:rPr lang="ja-JP" sz="125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2. 服薬・再診日を通知</a:t>
            </a:r>
            <a:endParaRPr lang="ja-JP" sz="1250"/>
          </a:p>
          <a:p>
            <a:pPr marL="0" indent="0" algn="l">
              <a:buNone/>
            </a:pPr>
            <a:r>
              <a:rPr lang="ja-JP" sz="125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3. 家族にも共有可能</a:t>
            </a:r>
            <a:endParaRPr lang="ja-JP" sz="1250"/>
          </a:p>
        </p:txBody>
      </p:sp>
      <p:cxnSp>
        <p:nvCxnSpPr>
          <p:cNvPr id="223" name="Line"/>
          <p:cNvCxnSpPr/>
          <p:nvPr/>
        </p:nvCxnSpPr>
        <p:spPr>
          <a:xfrm>
            <a:off x="3931920" y="3346704"/>
            <a:ext cx="512064" cy="0"/>
          </a:xfrm>
          <a:prstGeom prst="line">
            <a:avLst/>
          </a:prstGeom>
          <a:ln w="25400">
            <a:solidFill>
              <a:srgbClr val="1B998B"/>
            </a:solidFill>
            <a:tailEnd type="triangle"/>
          </a:ln>
        </p:spPr>
      </p:cxnSp>
      <p:cxnSp>
        <p:nvCxnSpPr>
          <p:cNvPr id="224" name="Line"/>
          <p:cNvCxnSpPr/>
          <p:nvPr/>
        </p:nvCxnSpPr>
        <p:spPr>
          <a:xfrm>
            <a:off x="7772400" y="3346704"/>
            <a:ext cx="512064" cy="0"/>
          </a:xfrm>
          <a:prstGeom prst="line">
            <a:avLst/>
          </a:prstGeom>
          <a:ln w="25400">
            <a:solidFill>
              <a:srgbClr val="357DED"/>
            </a:solidFill>
            <a:tailEnd type="triangle"/>
          </a:ln>
        </p:spPr>
      </p:cxnSp>
      <p:sp>
        <p:nvSpPr>
          <p:cNvPr id="225" name="TextBox"/>
          <p:cNvSpPr txBox="1"/>
          <p:nvPr/>
        </p:nvSpPr>
        <p:spPr>
          <a:xfrm>
            <a:off x="960120" y="4983480"/>
            <a:ext cx="10332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2E7D5B"/>
                </a:solidFill>
                <a:latin typeface="Yu Gothic"/>
                <a:ea typeface="Yu Gothic"/>
                <a:cs typeface="Yu Gothic"/>
              </a:rPr>
              <a:t>最初のMVPは「薬局・診療所」に絞る。重要情報が明確で、効果を検証しやすい。</a:t>
            </a:r>
            <a:endParaRPr lang="ja-JP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主要機能: ただの字幕から、行動できる情報へ</a:t>
            </a:r>
            <a:endParaRPr lang="ja-JP" sz="1800"/>
          </a:p>
        </p:txBody>
      </p:sp>
      <p:sp>
        <p:nvSpPr>
          <p:cNvPr id="227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Features</a:t>
            </a:r>
            <a:endParaRPr lang="ja-JP" sz="900"/>
          </a:p>
        </p:txBody>
      </p:sp>
      <p:cxnSp>
        <p:nvCxnSpPr>
          <p:cNvPr id="228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229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7</a:t>
            </a:r>
            <a:endParaRPr lang="ja-JP" sz="800"/>
          </a:p>
        </p:txBody>
      </p:sp>
      <p:sp>
        <p:nvSpPr>
          <p:cNvPr id="230" name="Shape"/>
          <p:cNvSpPr/>
          <p:nvPr/>
        </p:nvSpPr>
        <p:spPr>
          <a:xfrm>
            <a:off x="685800" y="1143000"/>
            <a:ext cx="3429000" cy="1188720"/>
          </a:xfrm>
          <a:prstGeom prst="roundRect">
            <a:avLst/>
          </a:prstGeom>
          <a:solidFill>
            <a:srgbClr val="F9FFFD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31" name="Shape"/>
          <p:cNvSpPr/>
          <p:nvPr/>
        </p:nvSpPr>
        <p:spPr>
          <a:xfrm>
            <a:off x="685800" y="1143000"/>
            <a:ext cx="73152" cy="11887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32" name="TextBox"/>
          <p:cNvSpPr txBox="1"/>
          <p:nvPr/>
        </p:nvSpPr>
        <p:spPr>
          <a:xfrm>
            <a:off x="850392" y="1252728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リアルタイム短文字幕</a:t>
            </a:r>
            <a:endParaRPr lang="ja-JP" sz="1400"/>
          </a:p>
        </p:txBody>
      </p:sp>
      <p:sp>
        <p:nvSpPr>
          <p:cNvPr id="233" name="TextBox"/>
          <p:cNvSpPr txBox="1"/>
          <p:nvPr/>
        </p:nvSpPr>
        <p:spPr>
          <a:xfrm>
            <a:off x="850392" y="1645920"/>
            <a:ext cx="30998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長文をそのまま流さず、読みやすい単位で表示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Even G2とスマホの両方で利用</a:t>
            </a:r>
            <a:endParaRPr lang="ja-JP" sz="1050"/>
          </a:p>
        </p:txBody>
      </p:sp>
      <p:sp>
        <p:nvSpPr>
          <p:cNvPr id="234" name="Shape"/>
          <p:cNvSpPr/>
          <p:nvPr/>
        </p:nvSpPr>
        <p:spPr>
          <a:xfrm>
            <a:off x="4434840" y="1143000"/>
            <a:ext cx="3429000" cy="118872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35" name="Shape"/>
          <p:cNvSpPr/>
          <p:nvPr/>
        </p:nvSpPr>
        <p:spPr>
          <a:xfrm>
            <a:off x="4434840" y="1143000"/>
            <a:ext cx="73152" cy="1188720"/>
          </a:xfrm>
          <a:prstGeom prst="rect">
            <a:avLst/>
          </a:prstGeom>
          <a:solidFill>
            <a:srgbClr val="357DE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36" name="TextBox"/>
          <p:cNvSpPr txBox="1"/>
          <p:nvPr/>
        </p:nvSpPr>
        <p:spPr>
          <a:xfrm>
            <a:off x="4599432" y="1252728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重要事項カード</a:t>
            </a:r>
            <a:endParaRPr lang="ja-JP" sz="1400"/>
          </a:p>
        </p:txBody>
      </p:sp>
      <p:sp>
        <p:nvSpPr>
          <p:cNvPr id="237" name="TextBox"/>
          <p:cNvSpPr txBox="1"/>
          <p:nvPr/>
        </p:nvSpPr>
        <p:spPr>
          <a:xfrm>
            <a:off x="4599432" y="1645920"/>
            <a:ext cx="30998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日付、薬、金額、場所、注意を自動抽出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あとで見返せる会話メモに保存</a:t>
            </a:r>
            <a:endParaRPr lang="ja-JP" sz="1050"/>
          </a:p>
        </p:txBody>
      </p:sp>
      <p:sp>
        <p:nvSpPr>
          <p:cNvPr id="238" name="Shape"/>
          <p:cNvSpPr/>
          <p:nvPr/>
        </p:nvSpPr>
        <p:spPr>
          <a:xfrm>
            <a:off x="8183880" y="1143000"/>
            <a:ext cx="3429000" cy="1188720"/>
          </a:xfrm>
          <a:prstGeom prst="roundRect">
            <a:avLst/>
          </a:prstGeom>
          <a:solidFill>
            <a:srgbClr val="FFFAF8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39" name="Shape"/>
          <p:cNvSpPr/>
          <p:nvPr/>
        </p:nvSpPr>
        <p:spPr>
          <a:xfrm>
            <a:off x="8183880" y="1143000"/>
            <a:ext cx="73152" cy="1188720"/>
          </a:xfrm>
          <a:prstGeom prst="rect">
            <a:avLst/>
          </a:prstGeom>
          <a:solidFill>
            <a:srgbClr val="F06449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40" name="TextBox"/>
          <p:cNvSpPr txBox="1"/>
          <p:nvPr/>
        </p:nvSpPr>
        <p:spPr>
          <a:xfrm>
            <a:off x="8348472" y="1252728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確認ボタン</a:t>
            </a:r>
            <a:endParaRPr lang="ja-JP" sz="1400"/>
          </a:p>
        </p:txBody>
      </p:sp>
      <p:sp>
        <p:nvSpPr>
          <p:cNvPr id="241" name="TextBox"/>
          <p:cNvSpPr txBox="1"/>
          <p:nvPr/>
        </p:nvSpPr>
        <p:spPr>
          <a:xfrm>
            <a:off x="8348472" y="1645920"/>
            <a:ext cx="30998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理解した、もう一度、ゆっくり、文字でください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スタッフ側の画面へ即時表示</a:t>
            </a:r>
            <a:endParaRPr lang="ja-JP" sz="1050"/>
          </a:p>
        </p:txBody>
      </p:sp>
      <p:sp>
        <p:nvSpPr>
          <p:cNvPr id="242" name="Shape"/>
          <p:cNvSpPr/>
          <p:nvPr/>
        </p:nvSpPr>
        <p:spPr>
          <a:xfrm>
            <a:off x="685800" y="2880360"/>
            <a:ext cx="3429000" cy="1188720"/>
          </a:xfrm>
          <a:prstGeom prst="roundRect">
            <a:avLst/>
          </a:prstGeom>
          <a:solidFill>
            <a:srgbClr val="FFFCF4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43" name="Shape"/>
          <p:cNvSpPr/>
          <p:nvPr/>
        </p:nvSpPr>
        <p:spPr>
          <a:xfrm>
            <a:off x="685800" y="2880360"/>
            <a:ext cx="73152" cy="118872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44" name="TextBox"/>
          <p:cNvSpPr txBox="1"/>
          <p:nvPr/>
        </p:nvSpPr>
        <p:spPr>
          <a:xfrm>
            <a:off x="850392" y="2990088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やさしい日本語</a:t>
            </a:r>
            <a:endParaRPr lang="ja-JP" sz="1400"/>
          </a:p>
        </p:txBody>
      </p:sp>
      <p:sp>
        <p:nvSpPr>
          <p:cNvPr id="245" name="TextBox"/>
          <p:cNvSpPr txBox="1"/>
          <p:nvPr/>
        </p:nvSpPr>
        <p:spPr>
          <a:xfrm>
            <a:off x="850392" y="3383280"/>
            <a:ext cx="30998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専門用語を短く、わかりやすく変換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外国人・高齢者にも展開可能</a:t>
            </a:r>
            <a:endParaRPr lang="ja-JP" sz="1050"/>
          </a:p>
        </p:txBody>
      </p:sp>
      <p:sp>
        <p:nvSpPr>
          <p:cNvPr id="246" name="Shape"/>
          <p:cNvSpPr/>
          <p:nvPr/>
        </p:nvSpPr>
        <p:spPr>
          <a:xfrm>
            <a:off x="4434840" y="2880360"/>
            <a:ext cx="3429000" cy="1188720"/>
          </a:xfrm>
          <a:prstGeom prst="roundRect">
            <a:avLst/>
          </a:prstGeom>
          <a:solidFill>
            <a:srgbClr val="F7FCF8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47" name="Shape"/>
          <p:cNvSpPr/>
          <p:nvPr/>
        </p:nvSpPr>
        <p:spPr>
          <a:xfrm>
            <a:off x="4434840" y="2880360"/>
            <a:ext cx="73152" cy="1188720"/>
          </a:xfrm>
          <a:prstGeom prst="rect">
            <a:avLst/>
          </a:prstGeom>
          <a:solidFill>
            <a:srgbClr val="2E7D5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48" name="TextBox"/>
          <p:cNvSpPr txBox="1"/>
          <p:nvPr/>
        </p:nvSpPr>
        <p:spPr>
          <a:xfrm>
            <a:off x="4599432" y="2990088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呼び出し連携</a:t>
            </a:r>
            <a:endParaRPr lang="ja-JP" sz="1400"/>
          </a:p>
        </p:txBody>
      </p:sp>
      <p:sp>
        <p:nvSpPr>
          <p:cNvPr id="249" name="TextBox"/>
          <p:cNvSpPr txBox="1"/>
          <p:nvPr/>
        </p:nvSpPr>
        <p:spPr>
          <a:xfrm>
            <a:off x="4599432" y="3383280"/>
            <a:ext cx="30998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番号・順番・館内案内を直接通知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音声放送に頼らない案内導線</a:t>
            </a:r>
            <a:endParaRPr lang="ja-JP" sz="1050"/>
          </a:p>
        </p:txBody>
      </p:sp>
      <p:sp>
        <p:nvSpPr>
          <p:cNvPr id="250" name="Shape"/>
          <p:cNvSpPr/>
          <p:nvPr/>
        </p:nvSpPr>
        <p:spPr>
          <a:xfrm>
            <a:off x="8183880" y="2880360"/>
            <a:ext cx="34290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51" name="Shape"/>
          <p:cNvSpPr/>
          <p:nvPr/>
        </p:nvSpPr>
        <p:spPr>
          <a:xfrm>
            <a:off x="8183880" y="2880360"/>
            <a:ext cx="73152" cy="1188720"/>
          </a:xfrm>
          <a:prstGeom prst="rect">
            <a:avLst/>
          </a:prstGeom>
          <a:solidFill>
            <a:srgbClr val="48566A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52" name="TextBox"/>
          <p:cNvSpPr txBox="1"/>
          <p:nvPr/>
        </p:nvSpPr>
        <p:spPr>
          <a:xfrm>
            <a:off x="8348472" y="2990088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導入レポート</a:t>
            </a:r>
            <a:endParaRPr lang="ja-JP" sz="1400"/>
          </a:p>
        </p:txBody>
      </p:sp>
      <p:sp>
        <p:nvSpPr>
          <p:cNvPr id="253" name="TextBox"/>
          <p:cNvSpPr txBox="1"/>
          <p:nvPr/>
        </p:nvSpPr>
        <p:spPr>
          <a:xfrm>
            <a:off x="8348472" y="3383280"/>
            <a:ext cx="3099816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対応件数、再説明、よくある困りごとを可視化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研修・改善・説明責任に使える</a:t>
            </a:r>
            <a:endParaRPr lang="ja-JP" sz="1050"/>
          </a:p>
        </p:txBody>
      </p:sp>
      <p:sp>
        <p:nvSpPr>
          <p:cNvPr id="254" name="Shape"/>
          <p:cNvSpPr/>
          <p:nvPr/>
        </p:nvSpPr>
        <p:spPr>
          <a:xfrm>
            <a:off x="914400" y="4983480"/>
            <a:ext cx="10241280" cy="594360"/>
          </a:xfrm>
          <a:prstGeom prst="roundRect">
            <a:avLst/>
          </a:prstGeom>
          <a:solidFill>
            <a:srgbClr val="18202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55" name="TextBox"/>
          <p:cNvSpPr txBox="1"/>
          <p:nvPr/>
        </p:nvSpPr>
        <p:spPr>
          <a:xfrm>
            <a:off x="1170432" y="5148072"/>
            <a:ext cx="973836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2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差別化の中心は「重要事項カード」「確認ボタン」「呼び出し連携」。</a:t>
            </a:r>
            <a:endParaRPr lang="ja-JP" sz="142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MVP: 最初は小さく、現場で検証する</a:t>
            </a:r>
            <a:endParaRPr lang="ja-JP" sz="1800"/>
          </a:p>
        </p:txBody>
      </p:sp>
      <p:sp>
        <p:nvSpPr>
          <p:cNvPr id="257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MVP</a:t>
            </a:r>
            <a:endParaRPr lang="ja-JP" sz="900"/>
          </a:p>
        </p:txBody>
      </p:sp>
      <p:cxnSp>
        <p:nvCxnSpPr>
          <p:cNvPr id="258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259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8</a:t>
            </a:r>
            <a:endParaRPr lang="ja-JP" sz="800"/>
          </a:p>
        </p:txBody>
      </p:sp>
      <p:sp>
        <p:nvSpPr>
          <p:cNvPr id="260" name="TextBox"/>
          <p:cNvSpPr txBox="1"/>
          <p:nvPr/>
        </p:nvSpPr>
        <p:spPr>
          <a:xfrm>
            <a:off x="777240" y="107899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22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90日で作る最小プロダクト</a:t>
            </a:r>
            <a:endParaRPr lang="ja-JP" sz="2200"/>
          </a:p>
        </p:txBody>
      </p:sp>
      <p:sp>
        <p:nvSpPr>
          <p:cNvPr id="261" name="Shape"/>
          <p:cNvSpPr/>
          <p:nvPr/>
        </p:nvSpPr>
        <p:spPr>
          <a:xfrm>
            <a:off x="914400" y="1847088"/>
            <a:ext cx="30632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62" name="Shape"/>
          <p:cNvSpPr/>
          <p:nvPr/>
        </p:nvSpPr>
        <p:spPr>
          <a:xfrm>
            <a:off x="4572000" y="1847088"/>
            <a:ext cx="30632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63" name="Shape"/>
          <p:cNvSpPr/>
          <p:nvPr/>
        </p:nvSpPr>
        <p:spPr>
          <a:xfrm>
            <a:off x="8229600" y="1847088"/>
            <a:ext cx="30632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64" name="TextBox"/>
          <p:cNvSpPr txBox="1"/>
          <p:nvPr/>
        </p:nvSpPr>
        <p:spPr>
          <a:xfrm>
            <a:off x="1143000" y="2084832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6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利用者アプリ</a:t>
            </a:r>
            <a:endParaRPr lang="ja-JP" sz="1600"/>
          </a:p>
        </p:txBody>
      </p:sp>
      <p:sp>
        <p:nvSpPr>
          <p:cNvPr id="265" name="TextBox"/>
          <p:cNvSpPr txBox="1"/>
          <p:nvPr/>
        </p:nvSpPr>
        <p:spPr>
          <a:xfrm>
            <a:off x="4800600" y="2084832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600" b="1">
                <a:solidFill>
                  <a:srgbClr val="357DED"/>
                </a:solidFill>
                <a:latin typeface="Yu Gothic"/>
                <a:ea typeface="Yu Gothic"/>
                <a:cs typeface="Yu Gothic"/>
              </a:rPr>
              <a:t>スタッフ画面</a:t>
            </a:r>
            <a:endParaRPr lang="ja-JP" sz="1600"/>
          </a:p>
        </p:txBody>
      </p:sp>
      <p:sp>
        <p:nvSpPr>
          <p:cNvPr id="266" name="TextBox"/>
          <p:cNvSpPr txBox="1"/>
          <p:nvPr/>
        </p:nvSpPr>
        <p:spPr>
          <a:xfrm>
            <a:off x="8458200" y="2084832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600" b="1">
                <a:solidFill>
                  <a:srgbClr val="F06449"/>
                </a:solidFill>
                <a:latin typeface="Yu Gothic"/>
                <a:ea typeface="Yu Gothic"/>
                <a:cs typeface="Yu Gothic"/>
              </a:rPr>
              <a:t>G2表示</a:t>
            </a:r>
            <a:endParaRPr lang="ja-JP" sz="1600"/>
          </a:p>
        </p:txBody>
      </p:sp>
      <p:sp>
        <p:nvSpPr>
          <p:cNvPr id="267" name="TextBox"/>
          <p:cNvSpPr txBox="1"/>
          <p:nvPr/>
        </p:nvSpPr>
        <p:spPr>
          <a:xfrm>
            <a:off x="1115568" y="2651760"/>
            <a:ext cx="265176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1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スマホで録音・文字起こし</a:t>
            </a:r>
            <a:endParaRPr lang="ja-JP" sz="1150"/>
          </a:p>
          <a:p>
            <a:pPr marL="260000" indent="-180000" algn="l">
              <a:buChar char="•"/>
            </a:pPr>
            <a:r>
              <a:rPr lang="ja-JP" sz="11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重要事項カード生成</a:t>
            </a:r>
            <a:endParaRPr lang="ja-JP" sz="1150"/>
          </a:p>
          <a:p>
            <a:pPr marL="260000" indent="-180000" algn="l">
              <a:buChar char="•"/>
            </a:pPr>
            <a:r>
              <a:rPr lang="ja-JP" sz="11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会話メモ保存</a:t>
            </a:r>
            <a:endParaRPr lang="ja-JP" sz="1150"/>
          </a:p>
        </p:txBody>
      </p:sp>
      <p:sp>
        <p:nvSpPr>
          <p:cNvPr id="268" name="TextBox"/>
          <p:cNvSpPr txBox="1"/>
          <p:nvPr/>
        </p:nvSpPr>
        <p:spPr>
          <a:xfrm>
            <a:off x="4773168" y="2651760"/>
            <a:ext cx="265176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1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説明テンプレート</a:t>
            </a:r>
            <a:endParaRPr lang="ja-JP" sz="1150"/>
          </a:p>
          <a:p>
            <a:pPr marL="260000" indent="-180000" algn="l">
              <a:buChar char="•"/>
            </a:pPr>
            <a:r>
              <a:rPr lang="ja-JP" sz="11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確認ボタン受信</a:t>
            </a:r>
            <a:endParaRPr lang="ja-JP" sz="1150"/>
          </a:p>
          <a:p>
            <a:pPr marL="260000" indent="-180000" algn="l">
              <a:buChar char="•"/>
            </a:pPr>
            <a:r>
              <a:rPr lang="ja-JP" sz="11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再説明リクエスト</a:t>
            </a:r>
            <a:endParaRPr lang="ja-JP" sz="1150"/>
          </a:p>
        </p:txBody>
      </p:sp>
      <p:sp>
        <p:nvSpPr>
          <p:cNvPr id="269" name="TextBox"/>
          <p:cNvSpPr txBox="1"/>
          <p:nvPr/>
        </p:nvSpPr>
        <p:spPr>
          <a:xfrm>
            <a:off x="8430768" y="2651760"/>
            <a:ext cx="265176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1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短文字幕表示</a:t>
            </a:r>
            <a:endParaRPr lang="ja-JP" sz="1150"/>
          </a:p>
          <a:p>
            <a:pPr marL="260000" indent="-180000" algn="l">
              <a:buChar char="•"/>
            </a:pPr>
            <a:r>
              <a:rPr lang="ja-JP" sz="11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重要情報の強調</a:t>
            </a:r>
            <a:endParaRPr lang="ja-JP" sz="1150"/>
          </a:p>
          <a:p>
            <a:pPr marL="260000" indent="-180000" algn="l">
              <a:buChar char="•"/>
            </a:pPr>
            <a:r>
              <a:rPr lang="ja-JP" sz="11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確認UIの試作</a:t>
            </a:r>
            <a:endParaRPr lang="ja-JP" sz="1150"/>
          </a:p>
        </p:txBody>
      </p:sp>
      <p:sp>
        <p:nvSpPr>
          <p:cNvPr id="270" name="TextBox"/>
          <p:cNvSpPr txBox="1"/>
          <p:nvPr/>
        </p:nvSpPr>
        <p:spPr>
          <a:xfrm>
            <a:off x="960120" y="5230368"/>
            <a:ext cx="1024128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70" b="1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MVPでやらないこと: 緊急音検知、全会議対応、全国展開、多数システム連携。まず薬局・診療所で深く刺す。</a:t>
            </a:r>
            <a:endParaRPr lang="ja-JP" sz="127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事業モデル: 個人課金より、法人導入から始める</a:t>
            </a:r>
            <a:endParaRPr lang="ja-JP" sz="1800"/>
          </a:p>
        </p:txBody>
      </p:sp>
      <p:sp>
        <p:nvSpPr>
          <p:cNvPr id="272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Business</a:t>
            </a:r>
            <a:endParaRPr lang="ja-JP" sz="900"/>
          </a:p>
        </p:txBody>
      </p:sp>
      <p:cxnSp>
        <p:nvCxnSpPr>
          <p:cNvPr id="273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274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9</a:t>
            </a:r>
            <a:endParaRPr lang="ja-JP" sz="800"/>
          </a:p>
        </p:txBody>
      </p:sp>
      <p:sp>
        <p:nvSpPr>
          <p:cNvPr id="275" name="Shape"/>
          <p:cNvSpPr/>
          <p:nvPr/>
        </p:nvSpPr>
        <p:spPr>
          <a:xfrm>
            <a:off x="731520" y="114300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76" name="Shape"/>
          <p:cNvSpPr/>
          <p:nvPr/>
        </p:nvSpPr>
        <p:spPr>
          <a:xfrm>
            <a:off x="731520" y="1143000"/>
            <a:ext cx="73152" cy="18288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77" name="TextBox"/>
          <p:cNvSpPr txBox="1"/>
          <p:nvPr/>
        </p:nvSpPr>
        <p:spPr>
          <a:xfrm>
            <a:off x="896112" y="1252728"/>
            <a:ext cx="29169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SaaS利用料</a:t>
            </a:r>
            <a:endParaRPr lang="ja-JP" sz="1400"/>
          </a:p>
        </p:txBody>
      </p:sp>
      <p:sp>
        <p:nvSpPr>
          <p:cNvPr id="278" name="TextBox"/>
          <p:cNvSpPr txBox="1"/>
          <p:nvPr/>
        </p:nvSpPr>
        <p:spPr>
          <a:xfrm>
            <a:off x="896112" y="1645920"/>
            <a:ext cx="2916936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1拠点 月額3万から20万円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受付数、スタッフ数、保存期間でプラン化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薬局チェーン・自治体は複数拠点契約</a:t>
            </a:r>
            <a:endParaRPr lang="ja-JP" sz="1050"/>
          </a:p>
        </p:txBody>
      </p:sp>
      <p:sp>
        <p:nvSpPr>
          <p:cNvPr id="279" name="Shape"/>
          <p:cNvSpPr/>
          <p:nvPr/>
        </p:nvSpPr>
        <p:spPr>
          <a:xfrm>
            <a:off x="4480560" y="114300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80" name="Shape"/>
          <p:cNvSpPr/>
          <p:nvPr/>
        </p:nvSpPr>
        <p:spPr>
          <a:xfrm>
            <a:off x="4480560" y="1143000"/>
            <a:ext cx="73152" cy="1828800"/>
          </a:xfrm>
          <a:prstGeom prst="rect">
            <a:avLst/>
          </a:prstGeom>
          <a:solidFill>
            <a:srgbClr val="357DE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81" name="TextBox"/>
          <p:cNvSpPr txBox="1"/>
          <p:nvPr/>
        </p:nvSpPr>
        <p:spPr>
          <a:xfrm>
            <a:off x="4645152" y="1252728"/>
            <a:ext cx="29169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導入・研修</a:t>
            </a:r>
            <a:endParaRPr lang="ja-JP" sz="1400"/>
          </a:p>
        </p:txBody>
      </p:sp>
      <p:sp>
        <p:nvSpPr>
          <p:cNvPr id="282" name="TextBox"/>
          <p:cNvSpPr txBox="1"/>
          <p:nvPr/>
        </p:nvSpPr>
        <p:spPr>
          <a:xfrm>
            <a:off x="4645152" y="1645920"/>
            <a:ext cx="2916936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初期設定、説明テンプレート作成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スタッフ向け対応研修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合理的配慮の運用設計支援</a:t>
            </a:r>
            <a:endParaRPr lang="ja-JP" sz="1050"/>
          </a:p>
        </p:txBody>
      </p:sp>
      <p:sp>
        <p:nvSpPr>
          <p:cNvPr id="283" name="Shape"/>
          <p:cNvSpPr/>
          <p:nvPr/>
        </p:nvSpPr>
        <p:spPr>
          <a:xfrm>
            <a:off x="8229600" y="1143000"/>
            <a:ext cx="3246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84" name="Shape"/>
          <p:cNvSpPr/>
          <p:nvPr/>
        </p:nvSpPr>
        <p:spPr>
          <a:xfrm>
            <a:off x="8229600" y="1143000"/>
            <a:ext cx="73152" cy="182880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85" name="TextBox"/>
          <p:cNvSpPr txBox="1"/>
          <p:nvPr/>
        </p:nvSpPr>
        <p:spPr>
          <a:xfrm>
            <a:off x="8394192" y="1252728"/>
            <a:ext cx="29169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端末・連携</a:t>
            </a:r>
            <a:endParaRPr lang="ja-JP" sz="1400"/>
          </a:p>
        </p:txBody>
      </p:sp>
      <p:sp>
        <p:nvSpPr>
          <p:cNvPr id="286" name="TextBox"/>
          <p:cNvSpPr txBox="1"/>
          <p:nvPr/>
        </p:nvSpPr>
        <p:spPr>
          <a:xfrm>
            <a:off x="8394192" y="1645920"/>
            <a:ext cx="2916936" cy="12070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Even G2、タブレットのレンタル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番号呼び出し・予約システム連携</a:t>
            </a:r>
            <a:endParaRPr lang="ja-JP" sz="1050"/>
          </a:p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保守・アップデート</a:t>
            </a:r>
            <a:endParaRPr lang="ja-JP" sz="1050"/>
          </a:p>
        </p:txBody>
      </p:sp>
      <p:sp>
        <p:nvSpPr>
          <p:cNvPr id="287" name="Shape"/>
          <p:cNvSpPr/>
          <p:nvPr/>
        </p:nvSpPr>
        <p:spPr>
          <a:xfrm>
            <a:off x="960120" y="3657600"/>
            <a:ext cx="1014984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288" name="TextBox"/>
          <p:cNvSpPr txBox="1"/>
          <p:nvPr/>
        </p:nvSpPr>
        <p:spPr>
          <a:xfrm>
            <a:off x="1188720" y="3877056"/>
            <a:ext cx="9692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5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販売先の優先順位</a:t>
            </a:r>
            <a:endParaRPr lang="ja-JP" sz="1500"/>
          </a:p>
        </p:txBody>
      </p:sp>
      <p:sp>
        <p:nvSpPr>
          <p:cNvPr id="289" name="TextBox"/>
          <p:cNvSpPr txBox="1"/>
          <p:nvPr/>
        </p:nvSpPr>
        <p:spPr>
          <a:xfrm>
            <a:off x="1188720" y="4343400"/>
            <a:ext cx="9692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2E7D5B"/>
                </a:solidFill>
                <a:latin typeface="Yu Gothic"/>
                <a:ea typeface="Yu Gothic"/>
                <a:cs typeface="Yu Gothic"/>
              </a:rPr>
              <a:t>薬局チェーン → 診療所グループ → 自治体窓口 → 銀行・ホテル・交通機関</a:t>
            </a:r>
            <a:endParaRPr lang="ja-JP" sz="1400"/>
          </a:p>
        </p:txBody>
      </p:sp>
      <p:sp>
        <p:nvSpPr>
          <p:cNvPr id="290" name="TextBox"/>
          <p:cNvSpPr txBox="1"/>
          <p:nvPr/>
        </p:nvSpPr>
        <p:spPr>
          <a:xfrm>
            <a:off x="960120" y="5285232"/>
            <a:ext cx="101498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32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個人向けは後から追加。最初は「施設が利用者のために用意する」形が導入しやすい。</a:t>
            </a:r>
            <a:endParaRPr lang="ja-JP" sz="132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ロードマップ: 12か月で商用化へ</a:t>
            </a:r>
            <a:endParaRPr lang="ja-JP" sz="1800"/>
          </a:p>
        </p:txBody>
      </p:sp>
      <p:sp>
        <p:nvSpPr>
          <p:cNvPr id="292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Roadmap</a:t>
            </a:r>
            <a:endParaRPr lang="ja-JP" sz="900"/>
          </a:p>
        </p:txBody>
      </p:sp>
      <p:cxnSp>
        <p:nvCxnSpPr>
          <p:cNvPr id="293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294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10</a:t>
            </a:r>
            <a:endParaRPr lang="ja-JP" sz="800"/>
          </a:p>
        </p:txBody>
      </p:sp>
      <p:cxnSp>
        <p:nvCxnSpPr>
          <p:cNvPr id="295" name="Line"/>
          <p:cNvCxnSpPr/>
          <p:nvPr/>
        </p:nvCxnSpPr>
        <p:spPr>
          <a:xfrm>
            <a:off x="1097280" y="2834640"/>
            <a:ext cx="9875520" cy="0"/>
          </a:xfrm>
          <a:prstGeom prst="line">
            <a:avLst/>
          </a:prstGeom>
          <a:ln w="38100">
            <a:solidFill>
              <a:srgbClr val="D8DEE8"/>
            </a:solidFill>
          </a:ln>
        </p:spPr>
      </p:cxnSp>
      <p:sp>
        <p:nvSpPr>
          <p:cNvPr id="296" name="Shape"/>
          <p:cNvSpPr/>
          <p:nvPr/>
        </p:nvSpPr>
        <p:spPr>
          <a:xfrm>
            <a:off x="1024128" y="2761488"/>
            <a:ext cx="146304" cy="146304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97" name="Shape"/>
          <p:cNvSpPr/>
          <p:nvPr/>
        </p:nvSpPr>
        <p:spPr>
          <a:xfrm>
            <a:off x="4270248" y="2761488"/>
            <a:ext cx="146304" cy="146304"/>
          </a:xfrm>
          <a:prstGeom prst="roundRect">
            <a:avLst/>
          </a:prstGeom>
          <a:solidFill>
            <a:srgbClr val="357DE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98" name="Shape"/>
          <p:cNvSpPr/>
          <p:nvPr/>
        </p:nvSpPr>
        <p:spPr>
          <a:xfrm>
            <a:off x="7516368" y="2761488"/>
            <a:ext cx="146304" cy="146304"/>
          </a:xfrm>
          <a:prstGeom prst="roundRect">
            <a:avLst/>
          </a:prstGeom>
          <a:solidFill>
            <a:srgbClr val="F4B94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299" name="Shape"/>
          <p:cNvSpPr/>
          <p:nvPr/>
        </p:nvSpPr>
        <p:spPr>
          <a:xfrm>
            <a:off x="10899648" y="2761488"/>
            <a:ext cx="146304" cy="146304"/>
          </a:xfrm>
          <a:prstGeom prst="roundRect">
            <a:avLst/>
          </a:prstGeom>
          <a:solidFill>
            <a:srgbClr val="F06449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0" name="Shape"/>
          <p:cNvSpPr/>
          <p:nvPr/>
        </p:nvSpPr>
        <p:spPr>
          <a:xfrm>
            <a:off x="777240" y="1325880"/>
            <a:ext cx="2834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01" name="Shape"/>
          <p:cNvSpPr/>
          <p:nvPr/>
        </p:nvSpPr>
        <p:spPr>
          <a:xfrm>
            <a:off x="777240" y="1325880"/>
            <a:ext cx="73152" cy="105156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2" name="TextBox"/>
          <p:cNvSpPr txBox="1"/>
          <p:nvPr/>
        </p:nvSpPr>
        <p:spPr>
          <a:xfrm>
            <a:off x="941832" y="1435608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0-3か月</a:t>
            </a:r>
            <a:endParaRPr lang="ja-JP" sz="1400"/>
          </a:p>
        </p:txBody>
      </p:sp>
      <p:sp>
        <p:nvSpPr>
          <p:cNvPr id="303" name="TextBox"/>
          <p:cNvSpPr txBox="1"/>
          <p:nvPr/>
        </p:nvSpPr>
        <p:spPr>
          <a:xfrm>
            <a:off x="941832" y="1828800"/>
            <a:ext cx="250545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MVP設計、字幕・重要カード、スタッフ画面</a:t>
            </a:r>
            <a:endParaRPr lang="ja-JP" sz="1050"/>
          </a:p>
        </p:txBody>
      </p:sp>
      <p:sp>
        <p:nvSpPr>
          <p:cNvPr id="304" name="Shape"/>
          <p:cNvSpPr/>
          <p:nvPr/>
        </p:nvSpPr>
        <p:spPr>
          <a:xfrm>
            <a:off x="3794760" y="3246120"/>
            <a:ext cx="2834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05" name="Shape"/>
          <p:cNvSpPr/>
          <p:nvPr/>
        </p:nvSpPr>
        <p:spPr>
          <a:xfrm>
            <a:off x="3794760" y="3246120"/>
            <a:ext cx="73152" cy="1051560"/>
          </a:xfrm>
          <a:prstGeom prst="rect">
            <a:avLst/>
          </a:prstGeom>
          <a:solidFill>
            <a:srgbClr val="357DE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06" name="TextBox"/>
          <p:cNvSpPr txBox="1"/>
          <p:nvPr/>
        </p:nvSpPr>
        <p:spPr>
          <a:xfrm>
            <a:off x="3959352" y="3355848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3-6か月</a:t>
            </a:r>
            <a:endParaRPr lang="ja-JP" sz="1400"/>
          </a:p>
        </p:txBody>
      </p:sp>
      <p:sp>
        <p:nvSpPr>
          <p:cNvPr id="307" name="TextBox"/>
          <p:cNvSpPr txBox="1"/>
          <p:nvPr/>
        </p:nvSpPr>
        <p:spPr>
          <a:xfrm>
            <a:off x="3959352" y="3749040"/>
            <a:ext cx="250545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聴覚障害者・難聴者10-20名で検証</a:t>
            </a:r>
            <a:endParaRPr lang="ja-JP" sz="1050"/>
          </a:p>
        </p:txBody>
      </p:sp>
      <p:sp>
        <p:nvSpPr>
          <p:cNvPr id="308" name="Shape"/>
          <p:cNvSpPr/>
          <p:nvPr/>
        </p:nvSpPr>
        <p:spPr>
          <a:xfrm>
            <a:off x="6812280" y="1325880"/>
            <a:ext cx="28346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09" name="Shape"/>
          <p:cNvSpPr/>
          <p:nvPr/>
        </p:nvSpPr>
        <p:spPr>
          <a:xfrm>
            <a:off x="6812280" y="1325880"/>
            <a:ext cx="73152" cy="105156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10" name="TextBox"/>
          <p:cNvSpPr txBox="1"/>
          <p:nvPr/>
        </p:nvSpPr>
        <p:spPr>
          <a:xfrm>
            <a:off x="6976872" y="1435608"/>
            <a:ext cx="250545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6-9か月</a:t>
            </a:r>
            <a:endParaRPr lang="ja-JP" sz="1400"/>
          </a:p>
        </p:txBody>
      </p:sp>
      <p:sp>
        <p:nvSpPr>
          <p:cNvPr id="311" name="TextBox"/>
          <p:cNvSpPr txBox="1"/>
          <p:nvPr/>
        </p:nvSpPr>
        <p:spPr>
          <a:xfrm>
            <a:off x="6976872" y="1828800"/>
            <a:ext cx="250545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薬局・診療所で実証、効果測定</a:t>
            </a:r>
            <a:endParaRPr lang="ja-JP" sz="1050"/>
          </a:p>
        </p:txBody>
      </p:sp>
      <p:sp>
        <p:nvSpPr>
          <p:cNvPr id="312" name="Shape"/>
          <p:cNvSpPr/>
          <p:nvPr/>
        </p:nvSpPr>
        <p:spPr>
          <a:xfrm>
            <a:off x="8869680" y="3246120"/>
            <a:ext cx="2743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13" name="Shape"/>
          <p:cNvSpPr/>
          <p:nvPr/>
        </p:nvSpPr>
        <p:spPr>
          <a:xfrm>
            <a:off x="8869680" y="3246120"/>
            <a:ext cx="73152" cy="1051560"/>
          </a:xfrm>
          <a:prstGeom prst="rect">
            <a:avLst/>
          </a:prstGeom>
          <a:solidFill>
            <a:srgbClr val="F06449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14" name="TextBox"/>
          <p:cNvSpPr txBox="1"/>
          <p:nvPr/>
        </p:nvSpPr>
        <p:spPr>
          <a:xfrm>
            <a:off x="9034272" y="3355848"/>
            <a:ext cx="241401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9-12か月</a:t>
            </a:r>
            <a:endParaRPr lang="ja-JP" sz="1400"/>
          </a:p>
        </p:txBody>
      </p:sp>
      <p:sp>
        <p:nvSpPr>
          <p:cNvPr id="315" name="TextBox"/>
          <p:cNvSpPr txBox="1"/>
          <p:nvPr/>
        </p:nvSpPr>
        <p:spPr>
          <a:xfrm>
            <a:off x="9034272" y="3749040"/>
            <a:ext cx="2414016" cy="4297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法人プラン、導入研修、販売開始</a:t>
            </a:r>
            <a:endParaRPr lang="ja-JP" sz="1050"/>
          </a:p>
        </p:txBody>
      </p:sp>
      <p:sp>
        <p:nvSpPr>
          <p:cNvPr id="316" name="TextBox"/>
          <p:cNvSpPr txBox="1"/>
          <p:nvPr/>
        </p:nvSpPr>
        <p:spPr>
          <a:xfrm>
            <a:off x="914400" y="5257800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7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重要KPI: 聞き返し回数、説明理解度、対応時間、利用者満足、スタッフ負荷、再来時の不安軽減</a:t>
            </a:r>
            <a:endParaRPr lang="ja-JP" sz="127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競争優位: 日本の窓口現場に深く入る</a:t>
            </a:r>
            <a:endParaRPr lang="ja-JP" sz="1800"/>
          </a:p>
        </p:txBody>
      </p:sp>
      <p:sp>
        <p:nvSpPr>
          <p:cNvPr id="318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Moat</a:t>
            </a:r>
            <a:endParaRPr lang="ja-JP" sz="900"/>
          </a:p>
        </p:txBody>
      </p:sp>
      <p:cxnSp>
        <p:nvCxnSpPr>
          <p:cNvPr id="319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320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11</a:t>
            </a:r>
            <a:endParaRPr lang="ja-JP" sz="800"/>
          </a:p>
        </p:txBody>
      </p:sp>
      <p:sp>
        <p:nvSpPr>
          <p:cNvPr id="321" name="Shape"/>
          <p:cNvSpPr/>
          <p:nvPr/>
        </p:nvSpPr>
        <p:spPr>
          <a:xfrm>
            <a:off x="749808" y="1115568"/>
            <a:ext cx="50749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22" name="TextBox"/>
          <p:cNvSpPr txBox="1"/>
          <p:nvPr/>
        </p:nvSpPr>
        <p:spPr>
          <a:xfrm>
            <a:off x="1024128" y="137160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7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コピーされにくい理由</a:t>
            </a:r>
            <a:endParaRPr lang="ja-JP" sz="1700"/>
          </a:p>
        </p:txBody>
      </p:sp>
      <p:sp>
        <p:nvSpPr>
          <p:cNvPr id="323" name="TextBox"/>
          <p:cNvSpPr txBox="1"/>
          <p:nvPr/>
        </p:nvSpPr>
        <p:spPr>
          <a:xfrm>
            <a:off x="1051560" y="1965960"/>
            <a:ext cx="4480560" cy="2560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2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病院・薬局・役所ごとの説明テンプレート</a:t>
            </a:r>
            <a:endParaRPr lang="ja-JP" sz="1200"/>
          </a:p>
          <a:p>
            <a:pPr marL="260000" indent="-180000" algn="l">
              <a:buChar char="•"/>
            </a:pPr>
            <a:r>
              <a:rPr lang="ja-JP" sz="12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やさしい日本語と専門用語辞書</a:t>
            </a:r>
            <a:endParaRPr lang="ja-JP" sz="1200"/>
          </a:p>
          <a:p>
            <a:pPr marL="260000" indent="-180000" algn="l">
              <a:buChar char="•"/>
            </a:pPr>
            <a:r>
              <a:rPr lang="ja-JP" sz="12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呼び出し・番号待ちシステムとの連携</a:t>
            </a:r>
            <a:endParaRPr lang="ja-JP" sz="1200"/>
          </a:p>
          <a:p>
            <a:pPr marL="260000" indent="-180000" algn="l">
              <a:buChar char="•"/>
            </a:pPr>
            <a:r>
              <a:rPr lang="ja-JP" sz="12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合理的配慮の運用ノウハウ</a:t>
            </a:r>
            <a:endParaRPr lang="ja-JP" sz="1200"/>
          </a:p>
          <a:p>
            <a:pPr marL="260000" indent="-180000" algn="l">
              <a:buChar char="•"/>
            </a:pPr>
            <a:r>
              <a:rPr lang="ja-JP" sz="12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現場データによる改善ループ</a:t>
            </a:r>
            <a:endParaRPr lang="ja-JP" sz="1200"/>
          </a:p>
        </p:txBody>
      </p:sp>
      <p:sp>
        <p:nvSpPr>
          <p:cNvPr id="324" name="Shape"/>
          <p:cNvSpPr/>
          <p:nvPr/>
        </p:nvSpPr>
        <p:spPr>
          <a:xfrm>
            <a:off x="6355080" y="1115568"/>
            <a:ext cx="5074920" cy="4526280"/>
          </a:xfrm>
          <a:prstGeom prst="roundRect">
            <a:avLst/>
          </a:prstGeom>
          <a:solidFill>
            <a:srgbClr val="18202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25" name="TextBox"/>
          <p:cNvSpPr txBox="1"/>
          <p:nvPr/>
        </p:nvSpPr>
        <p:spPr>
          <a:xfrm>
            <a:off x="6629400" y="1389888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ポジショニング</a:t>
            </a:r>
            <a:endParaRPr lang="ja-JP" sz="1700"/>
          </a:p>
        </p:txBody>
      </p:sp>
      <p:sp>
        <p:nvSpPr>
          <p:cNvPr id="326" name="Shape"/>
          <p:cNvSpPr/>
          <p:nvPr/>
        </p:nvSpPr>
        <p:spPr>
          <a:xfrm>
            <a:off x="6858000" y="2103120"/>
            <a:ext cx="4114800" cy="2560320"/>
          </a:xfrm>
          <a:prstGeom prst="roundRect">
            <a:avLst/>
          </a:prstGeom>
          <a:solidFill>
            <a:srgbClr val="24304A"/>
          </a:solidFill>
          <a:ln w="12700">
            <a:solidFill>
              <a:srgbClr val="55627A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27" name="TextBox"/>
          <p:cNvSpPr txBox="1"/>
          <p:nvPr/>
        </p:nvSpPr>
        <p:spPr>
          <a:xfrm>
            <a:off x="7223760" y="2395728"/>
            <a:ext cx="340156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300">
                <a:solidFill>
                  <a:srgbClr val="B8C5D6"/>
                </a:solidFill>
                <a:latin typeface="Yu Gothic"/>
                <a:ea typeface="Yu Gothic"/>
                <a:cs typeface="Yu Gothic"/>
              </a:rPr>
              <a:t>字幕アプリ</a:t>
            </a:r>
            <a:endParaRPr lang="ja-JP" sz="1300"/>
          </a:p>
        </p:txBody>
      </p:sp>
      <p:cxnSp>
        <p:nvCxnSpPr>
          <p:cNvPr id="328" name="Line"/>
          <p:cNvCxnSpPr/>
          <p:nvPr/>
        </p:nvCxnSpPr>
        <p:spPr>
          <a:xfrm>
            <a:off x="7269480" y="2971800"/>
            <a:ext cx="3291840" cy="0"/>
          </a:xfrm>
          <a:prstGeom prst="line">
            <a:avLst/>
          </a:prstGeom>
          <a:ln w="12700">
            <a:solidFill>
              <a:srgbClr val="62708A"/>
            </a:solidFill>
          </a:ln>
        </p:spPr>
      </p:cxnSp>
      <p:cxnSp>
        <p:nvCxnSpPr>
          <p:cNvPr id="329" name="Line"/>
          <p:cNvCxnSpPr/>
          <p:nvPr/>
        </p:nvCxnSpPr>
        <p:spPr>
          <a:xfrm>
            <a:off x="8915400" y="2423160"/>
            <a:ext cx="0" cy="2057400"/>
          </a:xfrm>
          <a:prstGeom prst="line">
            <a:avLst/>
          </a:prstGeom>
          <a:ln w="12700">
            <a:solidFill>
              <a:srgbClr val="62708A"/>
            </a:solidFill>
          </a:ln>
        </p:spPr>
      </p:cxnSp>
      <p:sp>
        <p:nvSpPr>
          <p:cNvPr id="330" name="TextBox"/>
          <p:cNvSpPr txBox="1"/>
          <p:nvPr/>
        </p:nvSpPr>
        <p:spPr>
          <a:xfrm>
            <a:off x="9217152" y="32461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200" b="1">
                <a:solidFill>
                  <a:srgbClr val="F4B942"/>
                </a:solidFill>
                <a:latin typeface="Yu Gothic"/>
                <a:ea typeface="Yu Gothic"/>
                <a:cs typeface="Yu Gothic"/>
              </a:rPr>
              <a:t>窓口OS</a:t>
            </a:r>
            <a:endParaRPr lang="ja-JP" sz="1200"/>
          </a:p>
        </p:txBody>
      </p:sp>
      <p:sp>
        <p:nvSpPr>
          <p:cNvPr id="331" name="Shape"/>
          <p:cNvSpPr/>
          <p:nvPr/>
        </p:nvSpPr>
        <p:spPr>
          <a:xfrm>
            <a:off x="9537192" y="2999232"/>
            <a:ext cx="256032" cy="256032"/>
          </a:xfrm>
          <a:prstGeom prst="roundRect">
            <a:avLst/>
          </a:prstGeom>
          <a:solidFill>
            <a:srgbClr val="F4B94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32" name="TextBox"/>
          <p:cNvSpPr txBox="1"/>
          <p:nvPr/>
        </p:nvSpPr>
        <p:spPr>
          <a:xfrm>
            <a:off x="7059168" y="416966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900">
                <a:solidFill>
                  <a:srgbClr val="C9D3E3"/>
                </a:solidFill>
                <a:latin typeface="Yu Gothic"/>
                <a:ea typeface="Yu Gothic"/>
                <a:cs typeface="Yu Gothic"/>
              </a:rPr>
              <a:t>個人利用</a:t>
            </a:r>
            <a:endParaRPr lang="ja-JP" sz="900"/>
          </a:p>
        </p:txBody>
      </p:sp>
      <p:sp>
        <p:nvSpPr>
          <p:cNvPr id="333" name="TextBox"/>
          <p:cNvSpPr txBox="1"/>
          <p:nvPr/>
        </p:nvSpPr>
        <p:spPr>
          <a:xfrm>
            <a:off x="9144000" y="4169664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900">
                <a:solidFill>
                  <a:srgbClr val="C9D3E3"/>
                </a:solidFill>
                <a:latin typeface="Yu Gothic"/>
                <a:ea typeface="Yu Gothic"/>
                <a:cs typeface="Yu Gothic"/>
              </a:rPr>
              <a:t>法人導入</a:t>
            </a:r>
            <a:endParaRPr lang="ja-JP" sz="900"/>
          </a:p>
        </p:txBody>
      </p:sp>
      <p:sp>
        <p:nvSpPr>
          <p:cNvPr id="334" name="TextBox"/>
          <p:cNvSpPr txBox="1"/>
          <p:nvPr/>
        </p:nvSpPr>
        <p:spPr>
          <a:xfrm>
            <a:off x="7150608" y="2724912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900">
                <a:solidFill>
                  <a:srgbClr val="C9D3E3"/>
                </a:solidFill>
                <a:latin typeface="Yu Gothic"/>
                <a:ea typeface="Yu Gothic"/>
                <a:cs typeface="Yu Gothic"/>
              </a:rPr>
              <a:t>文字化</a:t>
            </a:r>
            <a:endParaRPr lang="ja-JP" sz="900"/>
          </a:p>
        </p:txBody>
      </p:sp>
      <p:sp>
        <p:nvSpPr>
          <p:cNvPr id="335" name="TextBox"/>
          <p:cNvSpPr txBox="1"/>
          <p:nvPr/>
        </p:nvSpPr>
        <p:spPr>
          <a:xfrm>
            <a:off x="9189720" y="2724912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900">
                <a:solidFill>
                  <a:srgbClr val="C9D3E3"/>
                </a:solidFill>
                <a:latin typeface="Yu Gothic"/>
                <a:ea typeface="Yu Gothic"/>
                <a:cs typeface="Yu Gothic"/>
              </a:rPr>
              <a:t>業務化</a:t>
            </a:r>
            <a:endParaRPr lang="ja-JP" sz="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次に必要なアクション</a:t>
            </a:r>
            <a:endParaRPr lang="ja-JP" sz="1800"/>
          </a:p>
        </p:txBody>
      </p:sp>
      <p:sp>
        <p:nvSpPr>
          <p:cNvPr id="337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Next Steps</a:t>
            </a:r>
            <a:endParaRPr lang="ja-JP" sz="900"/>
          </a:p>
        </p:txBody>
      </p:sp>
      <p:cxnSp>
        <p:nvCxnSpPr>
          <p:cNvPr id="338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339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12</a:t>
            </a:r>
            <a:endParaRPr lang="ja-JP" sz="800"/>
          </a:p>
        </p:txBody>
      </p:sp>
      <p:sp>
        <p:nvSpPr>
          <p:cNvPr id="340" name="Shape"/>
          <p:cNvSpPr/>
          <p:nvPr/>
        </p:nvSpPr>
        <p:spPr>
          <a:xfrm>
            <a:off x="822960" y="1170432"/>
            <a:ext cx="105156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41" name="TextBox"/>
          <p:cNvSpPr txBox="1"/>
          <p:nvPr/>
        </p:nvSpPr>
        <p:spPr>
          <a:xfrm>
            <a:off x="1143000" y="1481328"/>
            <a:ext cx="987552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21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まず確認すべき4つ</a:t>
            </a:r>
            <a:endParaRPr lang="ja-JP" sz="2100"/>
          </a:p>
        </p:txBody>
      </p:sp>
      <p:sp>
        <p:nvSpPr>
          <p:cNvPr id="342" name="Shape"/>
          <p:cNvSpPr/>
          <p:nvPr/>
        </p:nvSpPr>
        <p:spPr>
          <a:xfrm>
            <a:off x="1188720" y="2212848"/>
            <a:ext cx="2331720" cy="1234440"/>
          </a:xfrm>
          <a:prstGeom prst="roundRect">
            <a:avLst/>
          </a:prstGeom>
          <a:solidFill>
            <a:srgbClr val="F9FFFD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43" name="Shape"/>
          <p:cNvSpPr/>
          <p:nvPr/>
        </p:nvSpPr>
        <p:spPr>
          <a:xfrm>
            <a:off x="1188720" y="2212848"/>
            <a:ext cx="73152" cy="123444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44" name="TextBox"/>
          <p:cNvSpPr txBox="1"/>
          <p:nvPr/>
        </p:nvSpPr>
        <p:spPr>
          <a:xfrm>
            <a:off x="1353312" y="2322576"/>
            <a:ext cx="20025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1. G2連携</a:t>
            </a:r>
            <a:endParaRPr lang="ja-JP" sz="1400"/>
          </a:p>
        </p:txBody>
      </p:sp>
      <p:sp>
        <p:nvSpPr>
          <p:cNvPr id="345" name="TextBox"/>
          <p:cNvSpPr txBox="1"/>
          <p:nvPr/>
        </p:nvSpPr>
        <p:spPr>
          <a:xfrm>
            <a:off x="1353312" y="2715768"/>
            <a:ext cx="2002536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表示API、入力方法、遅延、文字量を検証</a:t>
            </a:r>
            <a:endParaRPr lang="ja-JP" sz="1050"/>
          </a:p>
        </p:txBody>
      </p:sp>
      <p:sp>
        <p:nvSpPr>
          <p:cNvPr id="346" name="Shape"/>
          <p:cNvSpPr/>
          <p:nvPr/>
        </p:nvSpPr>
        <p:spPr>
          <a:xfrm>
            <a:off x="3703320" y="2212848"/>
            <a:ext cx="2331720" cy="1234440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47" name="Shape"/>
          <p:cNvSpPr/>
          <p:nvPr/>
        </p:nvSpPr>
        <p:spPr>
          <a:xfrm>
            <a:off x="3703320" y="2212848"/>
            <a:ext cx="73152" cy="1234440"/>
          </a:xfrm>
          <a:prstGeom prst="rect">
            <a:avLst/>
          </a:prstGeom>
          <a:solidFill>
            <a:srgbClr val="357DED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48" name="TextBox"/>
          <p:cNvSpPr txBox="1"/>
          <p:nvPr/>
        </p:nvSpPr>
        <p:spPr>
          <a:xfrm>
            <a:off x="3867912" y="2322576"/>
            <a:ext cx="20025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2. 当事者検証</a:t>
            </a:r>
            <a:endParaRPr lang="ja-JP" sz="1400"/>
          </a:p>
        </p:txBody>
      </p:sp>
      <p:sp>
        <p:nvSpPr>
          <p:cNvPr id="349" name="TextBox"/>
          <p:cNvSpPr txBox="1"/>
          <p:nvPr/>
        </p:nvSpPr>
        <p:spPr>
          <a:xfrm>
            <a:off x="3867912" y="2715768"/>
            <a:ext cx="2002536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10-20名に字幕・カード・確認UIを試してもらう</a:t>
            </a:r>
            <a:endParaRPr lang="ja-JP" sz="1050"/>
          </a:p>
        </p:txBody>
      </p:sp>
      <p:sp>
        <p:nvSpPr>
          <p:cNvPr id="350" name="Shape"/>
          <p:cNvSpPr/>
          <p:nvPr/>
        </p:nvSpPr>
        <p:spPr>
          <a:xfrm>
            <a:off x="6217920" y="2212848"/>
            <a:ext cx="2331720" cy="1234440"/>
          </a:xfrm>
          <a:prstGeom prst="roundRect">
            <a:avLst/>
          </a:prstGeom>
          <a:solidFill>
            <a:srgbClr val="FFFCF4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51" name="Shape"/>
          <p:cNvSpPr/>
          <p:nvPr/>
        </p:nvSpPr>
        <p:spPr>
          <a:xfrm>
            <a:off x="6217920" y="2212848"/>
            <a:ext cx="73152" cy="1234440"/>
          </a:xfrm>
          <a:prstGeom prst="rect">
            <a:avLst/>
          </a:prstGeom>
          <a:solidFill>
            <a:srgbClr val="F4B942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52" name="TextBox"/>
          <p:cNvSpPr txBox="1"/>
          <p:nvPr/>
        </p:nvSpPr>
        <p:spPr>
          <a:xfrm>
            <a:off x="6382512" y="2322576"/>
            <a:ext cx="20025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3. 現場ヒアリング</a:t>
            </a:r>
            <a:endParaRPr lang="ja-JP" sz="1400"/>
          </a:p>
        </p:txBody>
      </p:sp>
      <p:sp>
        <p:nvSpPr>
          <p:cNvPr id="353" name="TextBox"/>
          <p:cNvSpPr txBox="1"/>
          <p:nvPr/>
        </p:nvSpPr>
        <p:spPr>
          <a:xfrm>
            <a:off x="6382512" y="2715768"/>
            <a:ext cx="2002536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薬局、診療所、自治体窓口の業務を調査</a:t>
            </a:r>
            <a:endParaRPr lang="ja-JP" sz="1050"/>
          </a:p>
        </p:txBody>
      </p:sp>
      <p:sp>
        <p:nvSpPr>
          <p:cNvPr id="354" name="Shape"/>
          <p:cNvSpPr/>
          <p:nvPr/>
        </p:nvSpPr>
        <p:spPr>
          <a:xfrm>
            <a:off x="8732520" y="2212848"/>
            <a:ext cx="2331720" cy="1234440"/>
          </a:xfrm>
          <a:prstGeom prst="roundRect">
            <a:avLst/>
          </a:prstGeom>
          <a:solidFill>
            <a:srgbClr val="FFFAF8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55" name="Shape"/>
          <p:cNvSpPr/>
          <p:nvPr/>
        </p:nvSpPr>
        <p:spPr>
          <a:xfrm>
            <a:off x="8732520" y="2212848"/>
            <a:ext cx="73152" cy="1234440"/>
          </a:xfrm>
          <a:prstGeom prst="rect">
            <a:avLst/>
          </a:prstGeom>
          <a:solidFill>
            <a:srgbClr val="F06449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56" name="TextBox"/>
          <p:cNvSpPr txBox="1"/>
          <p:nvPr/>
        </p:nvSpPr>
        <p:spPr>
          <a:xfrm>
            <a:off x="8897112" y="2322576"/>
            <a:ext cx="20025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4. 実証先確保</a:t>
            </a:r>
            <a:endParaRPr lang="ja-JP" sz="1400"/>
          </a:p>
        </p:txBody>
      </p:sp>
      <p:sp>
        <p:nvSpPr>
          <p:cNvPr id="357" name="TextBox"/>
          <p:cNvSpPr txBox="1"/>
          <p:nvPr/>
        </p:nvSpPr>
        <p:spPr>
          <a:xfrm>
            <a:off x="8897112" y="2715768"/>
            <a:ext cx="2002536" cy="6126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05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1施設で小さく導入し、KPIを測る</a:t>
            </a:r>
            <a:endParaRPr lang="ja-JP" sz="1050"/>
          </a:p>
        </p:txBody>
      </p:sp>
      <p:sp>
        <p:nvSpPr>
          <p:cNvPr id="358" name="Shape"/>
          <p:cNvSpPr/>
          <p:nvPr/>
        </p:nvSpPr>
        <p:spPr>
          <a:xfrm>
            <a:off x="1280160" y="4343400"/>
            <a:ext cx="9692640" cy="713232"/>
          </a:xfrm>
          <a:prstGeom prst="roundRect">
            <a:avLst/>
          </a:prstGeom>
          <a:solidFill>
            <a:srgbClr val="18202B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359" name="TextBox"/>
          <p:cNvSpPr txBox="1"/>
          <p:nvPr/>
        </p:nvSpPr>
        <p:spPr>
          <a:xfrm>
            <a:off x="1554480" y="4553712"/>
            <a:ext cx="914400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提案の一言: 聞こえない人が、窓口で不安なく手続きできる社会インフラを作る。</a:t>
            </a:r>
            <a:endParaRPr lang="ja-JP"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TextBox"/>
          <p:cNvSpPr txBox="1"/>
          <p:nvPr/>
        </p:nvSpPr>
        <p:spPr>
          <a:xfrm>
            <a:off x="502920" y="274320"/>
            <a:ext cx="7863840" cy="4389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B998B"/>
                </a:solidFill>
                <a:latin typeface="Yu Gothic"/>
                <a:ea typeface="Yu Gothic"/>
                <a:cs typeface="Yu Gothic"/>
              </a:rPr>
              <a:t>参考情報</a:t>
            </a:r>
            <a:endParaRPr lang="ja-JP" sz="1800"/>
          </a:p>
        </p:txBody>
      </p:sp>
      <p:sp>
        <p:nvSpPr>
          <p:cNvPr id="361" name="TextBox"/>
          <p:cNvSpPr txBox="1"/>
          <p:nvPr/>
        </p:nvSpPr>
        <p:spPr>
          <a:xfrm>
            <a:off x="8732520" y="301752"/>
            <a:ext cx="27889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Sources</a:t>
            </a:r>
            <a:endParaRPr lang="ja-JP" sz="900"/>
          </a:p>
        </p:txBody>
      </p:sp>
      <p:cxnSp>
        <p:nvCxnSpPr>
          <p:cNvPr id="362" name="Line"/>
          <p:cNvCxnSpPr/>
          <p:nvPr/>
        </p:nvCxnSpPr>
        <p:spPr>
          <a:xfrm>
            <a:off x="502920" y="841248"/>
            <a:ext cx="11155680" cy="0"/>
          </a:xfrm>
          <a:prstGeom prst="line">
            <a:avLst/>
          </a:prstGeom>
          <a:ln w="12700">
            <a:solidFill>
              <a:srgbClr val="DDE4EF"/>
            </a:solidFill>
          </a:ln>
        </p:spPr>
      </p:cxnSp>
      <p:sp>
        <p:nvSpPr>
          <p:cNvPr id="363" name="TextBox"/>
          <p:cNvSpPr txBox="1"/>
          <p:nvPr/>
        </p:nvSpPr>
        <p:spPr>
          <a:xfrm>
            <a:off x="11292840" y="6473952"/>
            <a:ext cx="292608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r">
              <a:buNone/>
            </a:pPr>
            <a:r>
              <a:rPr lang="ja-JP" sz="8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13</a:t>
            </a:r>
            <a:endParaRPr lang="ja-JP" sz="800"/>
          </a:p>
        </p:txBody>
      </p:sp>
      <p:sp>
        <p:nvSpPr>
          <p:cNvPr id="364" name="TextBox"/>
          <p:cNvSpPr txBox="1"/>
          <p:nvPr/>
        </p:nvSpPr>
        <p:spPr>
          <a:xfrm>
            <a:off x="868680" y="1170432"/>
            <a:ext cx="1037844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1800" b="1">
                <a:solidFill>
                  <a:srgbClr val="18202B"/>
                </a:solidFill>
                <a:latin typeface="Yu Gothic"/>
                <a:ea typeface="Yu Gothic"/>
                <a:cs typeface="Yu Gothic"/>
              </a:rPr>
              <a:t>競合・制度確認に使う主な公開情報</a:t>
            </a:r>
            <a:endParaRPr lang="ja-JP" sz="1800"/>
          </a:p>
        </p:txBody>
      </p:sp>
      <p:sp>
        <p:nvSpPr>
          <p:cNvPr id="365" name="Shape"/>
          <p:cNvSpPr/>
          <p:nvPr/>
        </p:nvSpPr>
        <p:spPr>
          <a:xfrm>
            <a:off x="868680" y="1828800"/>
            <a:ext cx="103784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EE8"/>
            </a:solidFill>
          </a:ln>
        </p:spPr>
        <p:txBody>
          <a:bodyPr/>
          <a:lstStyle/>
          <a:p>
            <a:endParaRPr lang="ja-JP"/>
          </a:p>
        </p:txBody>
      </p:sp>
      <p:sp>
        <p:nvSpPr>
          <p:cNvPr id="366" name="TextBox"/>
          <p:cNvSpPr txBox="1"/>
          <p:nvPr/>
        </p:nvSpPr>
        <p:spPr>
          <a:xfrm>
            <a:off x="1143000" y="2084832"/>
            <a:ext cx="9875520" cy="2926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260000" indent="-180000" algn="l">
              <a:buChar char="•"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Even Realities: https://www.evenrealities.com/</a:t>
            </a:r>
            <a:endParaRPr lang="ja-JP" sz="1100"/>
          </a:p>
          <a:p>
            <a:pPr marL="260000" indent="-180000" algn="l">
              <a:buChar char="•"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XRAI Glass: https://xrai.glass/</a:t>
            </a:r>
            <a:endParaRPr lang="ja-JP" sz="1100"/>
          </a:p>
          <a:p>
            <a:pPr marL="260000" indent="-180000" algn="l">
              <a:buChar char="•"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AirCaps: https://www.aircaps.com/</a:t>
            </a:r>
            <a:endParaRPr lang="ja-JP" sz="1100"/>
          </a:p>
          <a:p>
            <a:pPr marL="260000" indent="-180000" algn="l">
              <a:buChar char="•"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Hearview: https://www.hearview.ai/</a:t>
            </a:r>
            <a:endParaRPr lang="ja-JP" sz="1100"/>
          </a:p>
          <a:p>
            <a:pPr marL="260000" indent="-180000" algn="l">
              <a:buChar char="•"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UDトーク: https://udtalk.jp/</a:t>
            </a:r>
            <a:endParaRPr lang="ja-JP" sz="1100"/>
          </a:p>
          <a:p>
            <a:pPr marL="260000" indent="-180000" algn="l">
              <a:buChar char="•"/>
            </a:pPr>
            <a:r>
              <a:rPr lang="ja-JP" sz="1100">
                <a:solidFill>
                  <a:srgbClr val="253041"/>
                </a:solidFill>
                <a:latin typeface="Yu Gothic"/>
                <a:ea typeface="Yu Gothic"/>
                <a:cs typeface="Yu Gothic"/>
              </a:rPr>
              <a:t>内閣府 障害者差別解消法: https://www8.cao.go.jp/shougai/suishin/sabekai.html</a:t>
            </a:r>
            <a:endParaRPr lang="ja-JP" sz="1100"/>
          </a:p>
        </p:txBody>
      </p:sp>
      <p:sp>
        <p:nvSpPr>
          <p:cNvPr id="367" name="TextBox"/>
          <p:cNvSpPr txBox="1"/>
          <p:nvPr/>
        </p:nvSpPr>
        <p:spPr>
          <a:xfrm>
            <a:off x="868680" y="5669280"/>
            <a:ext cx="10378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marL="0" indent="0" algn="l">
              <a:buNone/>
            </a:pPr>
            <a:r>
              <a:rPr lang="ja-JP" sz="900">
                <a:solidFill>
                  <a:srgbClr val="667085"/>
                </a:solidFill>
                <a:latin typeface="Yu Gothic"/>
                <a:ea typeface="Yu Gothic"/>
                <a:cs typeface="Yu Gothic"/>
              </a:rPr>
              <a:t>注: 本資料は初期事業仮説です。導入前にEven G2の開発者向け仕様、医療・個人情報の取り扱い、実証先の運用条件を確認してください。</a:t>
            </a:r>
            <a:endParaRPr lang="ja-JP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1361</Words>
  <Application>Microsoft Office PowerPoint</Application>
  <PresentationFormat>ワイド画面</PresentationFormat>
  <Paragraphs>205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5" baseType="lpstr">
      <vt:lpstr>Yu Gothic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聴覚バリアフリー窓口OS - Mieru Counter</dc:title>
  <dc:creator>Codex</dc:creator>
  <cp:lastModifiedBy>仁 渡辺</cp:lastModifiedBy>
  <cp:revision>1</cp:revision>
  <dcterms:created xsi:type="dcterms:W3CDTF">2026-06-27T06:55:34Z</dcterms:created>
  <dcterms:modified xsi:type="dcterms:W3CDTF">2026-06-27T07:00:44Z</dcterms:modified>
</cp:coreProperties>
</file>